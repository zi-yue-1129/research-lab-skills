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3048000"/>
            <a:ext cx="22352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416560" bIns="0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Helvetica"/>
              </a:rPr>
              <a:t>Ingestion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978400" y="3048000"/>
            <a:ext cx="22352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416560" bIns="0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Helvetica"/>
              </a:rPr>
              <a:t>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940800" y="3048000"/>
            <a:ext cx="22352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416560" bIns="0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Helvetica"/>
              </a:rPr>
              <a:t>Evaluation</a:t>
            </a:r>
          </a:p>
        </p:txBody>
      </p:sp>
      <p:cxnSp>
        <p:nvCxnSpPr>
          <p:cNvPr id="7" name="Connector 6"/>
          <p:cNvCxnSpPr>
            <a:stCxn id="4" idx="3"/>
            <a:endCxn id="5" idx="7"/>
          </p:cNvCxnSpPr>
          <p:nvPr/>
        </p:nvCxnSpPr>
        <p:spPr>
          <a:xfrm>
            <a:off x="3251200" y="3505200"/>
            <a:ext cx="1727200" cy="0"/>
          </a:xfrm>
          <a:prstGeom prst="line">
            <a:avLst/>
          </a:prstGeom>
          <a:ln w="381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5" idx="3"/>
            <a:endCxn id="6" idx="7"/>
          </p:cNvCxnSpPr>
          <p:nvPr/>
        </p:nvCxnSpPr>
        <p:spPr>
          <a:xfrm>
            <a:off x="7213600" y="3505200"/>
            <a:ext cx="1727200" cy="0"/>
          </a:xfrm>
          <a:prstGeom prst="line">
            <a:avLst/>
          </a:prstGeom>
          <a:ln w="381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482600"/>
            <a:ext cx="539496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Helvetica"/>
              </a:rPr>
              <a:t>Training pipeline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se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2235200"/>
            <a:ext cx="3251200" cy="211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82600"/>
            <a:ext cx="341376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Helvetica"/>
              </a:rPr>
              <a:t>Evaluation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7244080" cy="264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>
                <a:solidFill>
                  <a:srgbClr val="374151"/>
                </a:solidFill>
                <a:latin typeface="Helvetica"/>
              </a:rPr>
              <a:t>Validation accuracy improved across five checkpoints.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