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7680" y="1625600"/>
            <a:ext cx="11216640" cy="1"/>
          </a:xfrm>
          <a:custGeom>
            <a:avLst/>
            <a:gdLst/>
            <a:ahLst/>
            <a:cxnLst/>
            <a:rect l="0" t="0" r="r" b="b"/>
            <a:pathLst>
              <a:path w="11216640" h="1">
                <a:moveTo>
                  <a:pt x="0" y="0"/>
                </a:moveTo>
                <a:lnTo>
                  <a:pt x="11216640" y="0"/>
                </a:lnTo>
              </a:path>
            </a:pathLst>
          </a:custGeom>
          <a:noFill/>
          <a:ln w="254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87680" y="2194560"/>
            <a:ext cx="2032000" cy="21945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635000" bIns="0"/>
          <a:lstStyle/>
          <a:p>
            <a:pPr algn="l" marL="24384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Data</a:t>
            </a:r>
          </a:p>
          <a:p>
            <a:pPr algn="l" marL="243840">
              <a:lnSpc>
                <a:spcPts val="1728"/>
              </a:lnSpc>
              <a:spcBef>
                <a:spcPts val="192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sources</a:t>
            </a:r>
          </a:p>
          <a:p>
            <a:pPr algn="l" marL="243840">
              <a:lnSpc>
                <a:spcPts val="1536"/>
              </a:lnSpc>
              <a:spcBef>
                <a:spcPts val="832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Raw inputs</a:t>
            </a:r>
          </a:p>
          <a:p>
            <a:pPr algn="l" marL="243840">
              <a:lnSpc>
                <a:spcPts val="1536"/>
              </a:lnSpc>
              <a:spcBef>
                <a:spcPts val="64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and metadata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63520" y="2194560"/>
            <a:ext cx="2032000" cy="21945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635000" bIns="0"/>
          <a:lstStyle/>
          <a:p>
            <a:pPr algn="l" marL="24384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Feature</a:t>
            </a:r>
          </a:p>
          <a:p>
            <a:pPr algn="l" marL="243840">
              <a:lnSpc>
                <a:spcPts val="1728"/>
              </a:lnSpc>
              <a:spcBef>
                <a:spcPts val="192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processing</a:t>
            </a:r>
          </a:p>
          <a:p>
            <a:pPr algn="l" marL="243840">
              <a:lnSpc>
                <a:spcPts val="1536"/>
              </a:lnSpc>
              <a:spcBef>
                <a:spcPts val="832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Normalize,</a:t>
            </a:r>
          </a:p>
          <a:p>
            <a:pPr algn="l" marL="243840">
              <a:lnSpc>
                <a:spcPts val="1536"/>
              </a:lnSpc>
              <a:spcBef>
                <a:spcPts val="64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encode, split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39360" y="2194560"/>
            <a:ext cx="2032000" cy="21945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635000" bIns="0"/>
          <a:lstStyle/>
          <a:p>
            <a:pPr algn="l" marL="24384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Model</a:t>
            </a:r>
          </a:p>
          <a:p>
            <a:pPr algn="l" marL="243840">
              <a:lnSpc>
                <a:spcPts val="1728"/>
              </a:lnSpc>
              <a:spcBef>
                <a:spcPts val="192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training</a:t>
            </a:r>
          </a:p>
          <a:p>
            <a:pPr algn="l" marL="243840">
              <a:lnSpc>
                <a:spcPts val="1536"/>
              </a:lnSpc>
              <a:spcBef>
                <a:spcPts val="832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Fit model</a:t>
            </a:r>
          </a:p>
          <a:p>
            <a:pPr algn="l" marL="243840">
              <a:lnSpc>
                <a:spcPts val="1536"/>
              </a:lnSpc>
              <a:spcBef>
                <a:spcPts val="64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parameters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194560"/>
            <a:ext cx="2032000" cy="21945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635000" bIns="0"/>
          <a:lstStyle/>
          <a:p>
            <a:pPr algn="l" marL="24384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Evaluation</a:t>
            </a:r>
          </a:p>
          <a:p>
            <a:pPr algn="l" marL="243840">
              <a:lnSpc>
                <a:spcPts val="1728"/>
              </a:lnSpc>
              <a:spcBef>
                <a:spcPts val="192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stage</a:t>
            </a:r>
          </a:p>
          <a:p>
            <a:pPr algn="l" marL="243840">
              <a:lnSpc>
                <a:spcPts val="1536"/>
              </a:lnSpc>
              <a:spcBef>
                <a:spcPts val="832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Holdout</a:t>
            </a:r>
          </a:p>
          <a:p>
            <a:pPr algn="l" marL="243840">
              <a:lnSpc>
                <a:spcPts val="1536"/>
              </a:lnSpc>
              <a:spcBef>
                <a:spcPts val="64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91040" y="2194560"/>
            <a:ext cx="2032000" cy="21945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635000" bIns="0"/>
          <a:lstStyle/>
          <a:p>
            <a:pPr algn="l" marL="24384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Model</a:t>
            </a:r>
          </a:p>
          <a:p>
            <a:pPr algn="l" marL="243840">
              <a:lnSpc>
                <a:spcPts val="1728"/>
              </a:lnSpc>
              <a:spcBef>
                <a:spcPts val="192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publishing</a:t>
            </a:r>
          </a:p>
          <a:p>
            <a:pPr algn="l" marL="243840">
              <a:lnSpc>
                <a:spcPts val="1536"/>
              </a:lnSpc>
              <a:spcBef>
                <a:spcPts val="832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Versioned</a:t>
            </a:r>
          </a:p>
          <a:p>
            <a:pPr algn="l" marL="243840">
              <a:lnSpc>
                <a:spcPts val="1536"/>
              </a:lnSpc>
              <a:spcBef>
                <a:spcPts val="64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artifact</a:t>
            </a:r>
          </a:p>
        </p:txBody>
      </p:sp>
      <p:cxnSp>
        <p:nvCxnSpPr>
          <p:cNvPr id="9" name="Connector 8"/>
          <p:cNvCxnSpPr>
            <a:stCxn id="4" idx="3"/>
            <a:endCxn id="5" idx="7"/>
          </p:cNvCxnSpPr>
          <p:nvPr/>
        </p:nvCxnSpPr>
        <p:spPr>
          <a:xfrm>
            <a:off x="2519680" y="3291840"/>
            <a:ext cx="24384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5" idx="3"/>
            <a:endCxn id="6" idx="7"/>
          </p:cNvCxnSpPr>
          <p:nvPr/>
        </p:nvCxnSpPr>
        <p:spPr>
          <a:xfrm>
            <a:off x="4795520" y="3291840"/>
            <a:ext cx="24384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6" idx="3"/>
            <a:endCxn id="7" idx="7"/>
          </p:cNvCxnSpPr>
          <p:nvPr/>
        </p:nvCxnSpPr>
        <p:spPr>
          <a:xfrm>
            <a:off x="7071360" y="3291840"/>
            <a:ext cx="24384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7" idx="3"/>
            <a:endCxn id="8" idx="7"/>
          </p:cNvCxnSpPr>
          <p:nvPr/>
        </p:nvCxnSpPr>
        <p:spPr>
          <a:xfrm>
            <a:off x="9347200" y="3291840"/>
            <a:ext cx="24384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177280" y="4958080"/>
            <a:ext cx="3901440" cy="105664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309880" bIns="0"/>
          <a:lstStyle/>
          <a:p>
            <a:pPr algn="l" marL="24384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HUMAN REVIEW</a:t>
            </a:r>
          </a:p>
          <a:p>
            <a:pPr algn="l" marL="243840">
              <a:lnSpc>
                <a:spcPts val="1536"/>
              </a:lnSpc>
              <a:spcBef>
                <a:spcPts val="832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Approve the run, or return it to training.</a:t>
            </a:r>
          </a:p>
        </p:txBody>
      </p:sp>
      <p:cxnSp>
        <p:nvCxnSpPr>
          <p:cNvPr id="14" name="Connector 13"/>
          <p:cNvCxnSpPr>
            <a:stCxn id="7" idx="5"/>
          </p:cNvCxnSpPr>
          <p:nvPr/>
        </p:nvCxnSpPr>
        <p:spPr>
          <a:xfrm>
            <a:off x="8331200" y="4389120"/>
            <a:ext cx="0" cy="56896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endCxn id="8" idx="5"/>
          </p:cNvCxnSpPr>
          <p:nvPr/>
        </p:nvCxnSpPr>
        <p:spPr>
          <a:xfrm flipV="1">
            <a:off x="10078720" y="4389120"/>
            <a:ext cx="528320" cy="81280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endCxn id="6" idx="5"/>
          </p:cNvCxnSpPr>
          <p:nvPr/>
        </p:nvCxnSpPr>
        <p:spPr>
          <a:xfrm flipH="1" flipV="1">
            <a:off x="6055360" y="4389120"/>
            <a:ext cx="121920" cy="81280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87680" y="6258560"/>
            <a:ext cx="11216640" cy="1"/>
          </a:xfrm>
          <a:custGeom>
            <a:avLst/>
            <a:gdLst/>
            <a:ahLst/>
            <a:cxnLst/>
            <a:rect l="0" t="0" r="r" b="b"/>
            <a:pathLst>
              <a:path w="11216640" h="1">
                <a:moveTo>
                  <a:pt x="0" y="0"/>
                </a:moveTo>
                <a:lnTo>
                  <a:pt x="1121664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680" y="558800"/>
            <a:ext cx="2686685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REFERENCE ARCHITECTURE • 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680" y="812800"/>
            <a:ext cx="5678488" cy="42265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DejaVu Sans"/>
              </a:rPr>
              <a:t>Training 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" y="1259840"/>
            <a:ext cx="5936456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374151"/>
                </a:solidFill>
                <a:latin typeface="DejaVu Sans"/>
              </a:rPr>
              <a:t>Data moves through a controlled sequence of native, editable stages.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80" y="1859280"/>
            <a:ext cx="1607502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DIRECTED DATA 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428240"/>
            <a:ext cx="399098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53840"/>
            <a:ext cx="1350010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OUTPUT: DATASET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7360" y="2428240"/>
            <a:ext cx="399098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7360" y="4053840"/>
            <a:ext cx="1431131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OUTPUT: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3200" y="2428240"/>
            <a:ext cx="399098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3200" y="4053840"/>
            <a:ext cx="1247299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OUTPUT: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59040" y="2428240"/>
            <a:ext cx="399098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9040" y="4053840"/>
            <a:ext cx="1347311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OUTPUT: METRICS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4880" y="2428240"/>
            <a:ext cx="399098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4880" y="4053840"/>
            <a:ext cx="1376839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OUTPUT: ARTIFACT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960" y="4704080"/>
            <a:ext cx="81327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APPROVE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8164" y="4704080"/>
            <a:ext cx="154479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DejaVu Sans"/>
              </a:rPr>
              <a:t>RETURN FOR RE-RUN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7680" y="6329680"/>
            <a:ext cx="7029291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Baseline scope: five bounded stages with explicit forward handoffs, and one human gate that can return a run.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7680" y="1625600"/>
            <a:ext cx="11216640" cy="1"/>
          </a:xfrm>
          <a:custGeom>
            <a:avLst/>
            <a:gdLst/>
            <a:ahLst/>
            <a:cxnLst/>
            <a:rect l="0" t="0" r="r" b="b"/>
            <a:pathLst>
              <a:path w="11216640" h="1">
                <a:moveTo>
                  <a:pt x="0" y="0"/>
                </a:moveTo>
                <a:lnTo>
                  <a:pt x="11216640" y="0"/>
                </a:lnTo>
              </a:path>
            </a:pathLst>
          </a:custGeom>
          <a:noFill/>
          <a:ln w="254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87680" y="1950720"/>
            <a:ext cx="5364480" cy="105664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309880" bIns="0"/>
          <a:lstStyle/>
          <a:p>
            <a:pPr algn="l" marL="24384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RESEARCHER</a:t>
            </a:r>
          </a:p>
          <a:p>
            <a:pPr algn="l" marL="243840">
              <a:lnSpc>
                <a:spcPts val="1536"/>
              </a:lnSpc>
              <a:spcBef>
                <a:spcPts val="832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Frames the question and judges the evidence.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39840" y="1950720"/>
            <a:ext cx="5364480" cy="105664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309880" bIns="0"/>
          <a:lstStyle/>
          <a:p>
            <a:pPr algn="l" marL="24384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AI LAB</a:t>
            </a:r>
          </a:p>
          <a:p>
            <a:pPr algn="l" marL="243840">
              <a:lnSpc>
                <a:spcPts val="1536"/>
              </a:lnSpc>
              <a:spcBef>
                <a:spcPts val="832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Surfaces patterns and proposes experiments.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7680" y="3495040"/>
            <a:ext cx="3088640" cy="1137920"/>
          </a:xfrm>
          <a:prstGeom prst="roundRect">
            <a:avLst>
              <a:gd name="adj" fmla="val 7142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309880" bIns="0"/>
          <a:lstStyle/>
          <a:p>
            <a:pPr algn="l" marL="24384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QUESTION</a:t>
            </a:r>
          </a:p>
          <a:p>
            <a:pPr algn="l" marL="243840">
              <a:lnSpc>
                <a:spcPts val="1536"/>
              </a:lnSpc>
              <a:spcBef>
                <a:spcPts val="832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Frame what is being asked.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15680" y="3495040"/>
            <a:ext cx="3088640" cy="1137920"/>
          </a:xfrm>
          <a:prstGeom prst="roundRect">
            <a:avLst>
              <a:gd name="adj" fmla="val 7142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309880" bIns="0"/>
          <a:lstStyle/>
          <a:p>
            <a:pPr algn="l" marL="24384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EXPERIMENT</a:t>
            </a:r>
          </a:p>
          <a:p>
            <a:pPr algn="l" marL="243840">
              <a:lnSpc>
                <a:spcPts val="1536"/>
              </a:lnSpc>
              <a:spcBef>
                <a:spcPts val="832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Probe it against the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51680" y="4958080"/>
            <a:ext cx="3088640" cy="1137920"/>
          </a:xfrm>
          <a:prstGeom prst="roundRect">
            <a:avLst>
              <a:gd name="adj" fmla="val 7142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309880" bIns="0"/>
          <a:lstStyle/>
          <a:p>
            <a:pPr algn="l" marL="24384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3A5F"/>
                </a:solidFill>
                <a:latin typeface="DejaVu Sans"/>
              </a:rPr>
              <a:t>JUDGMENT</a:t>
            </a:r>
          </a:p>
          <a:p>
            <a:pPr algn="l" marL="243840">
              <a:lnSpc>
                <a:spcPts val="1536"/>
              </a:lnSpc>
              <a:spcBef>
                <a:spcPts val="832"/>
              </a:spcBef>
              <a:spcAft>
                <a:spcPts val="0"/>
              </a:spcAft>
            </a:pPr>
            <a:r>
              <a:rPr sz="1600">
                <a:solidFill>
                  <a:srgbClr val="374151"/>
                </a:solidFill>
                <a:latin typeface="DejaVu Sans"/>
              </a:rPr>
              <a:t>Review what the probe showed.</a:t>
            </a:r>
          </a:p>
        </p:txBody>
      </p:sp>
      <p:cxnSp>
        <p:nvCxnSpPr>
          <p:cNvPr id="9" name="Connector 8"/>
          <p:cNvCxnSpPr>
            <a:stCxn id="6" idx="3"/>
            <a:endCxn id="7" idx="7"/>
          </p:cNvCxnSpPr>
          <p:nvPr/>
        </p:nvCxnSpPr>
        <p:spPr>
          <a:xfrm>
            <a:off x="3576320" y="4064000"/>
            <a:ext cx="50393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5"/>
          </p:cNvCxnSpPr>
          <p:nvPr/>
        </p:nvCxnSpPr>
        <p:spPr>
          <a:xfrm flipH="1">
            <a:off x="7640320" y="4632960"/>
            <a:ext cx="2519680" cy="56896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endCxn id="6" idx="5"/>
          </p:cNvCxnSpPr>
          <p:nvPr/>
        </p:nvCxnSpPr>
        <p:spPr>
          <a:xfrm flipH="1" flipV="1">
            <a:off x="2032000" y="4632960"/>
            <a:ext cx="2519680" cy="56896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87680" y="6258560"/>
            <a:ext cx="11216640" cy="1"/>
          </a:xfrm>
          <a:custGeom>
            <a:avLst/>
            <a:gdLst/>
            <a:ahLst/>
            <a:cxnLst/>
            <a:rect l="0" t="0" r="r" b="b"/>
            <a:pathLst>
              <a:path w="11216640" h="1">
                <a:moveTo>
                  <a:pt x="0" y="0"/>
                </a:moveTo>
                <a:lnTo>
                  <a:pt x="1121664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80" y="558800"/>
            <a:ext cx="1970088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RESEARCH COLLABORATION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812800"/>
            <a:ext cx="4088924" cy="42265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DejaVu Sans"/>
              </a:rPr>
              <a:t>Researcher + AI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680" y="1259840"/>
            <a:ext cx="4539615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374151"/>
                </a:solidFill>
                <a:latin typeface="DejaVu Sans"/>
              </a:rPr>
              <a:t>Every mark on this slide is editable vector geometry.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680" y="3241040"/>
            <a:ext cx="2266632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EDITABLE COLLABORATION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680" y="6329680"/>
            <a:ext cx="5818981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Deterministic vector diagram; the generated raster layer was downgraded out of this slide.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7680" y="1625600"/>
            <a:ext cx="11216640" cy="1"/>
          </a:xfrm>
          <a:custGeom>
            <a:avLst/>
            <a:gdLst/>
            <a:ahLst/>
            <a:cxnLst/>
            <a:rect l="0" t="0" r="r" b="b"/>
            <a:pathLst>
              <a:path w="11216640" h="1">
                <a:moveTo>
                  <a:pt x="0" y="0"/>
                </a:moveTo>
                <a:lnTo>
                  <a:pt x="11216640" y="0"/>
                </a:lnTo>
              </a:path>
            </a:pathLst>
          </a:custGeom>
          <a:noFill/>
          <a:ln w="254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96960" y="894080"/>
            <a:ext cx="162560" cy="162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16160" y="894080"/>
            <a:ext cx="162560" cy="162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81760" y="2032000"/>
            <a:ext cx="10078720" cy="0"/>
          </a:xfrm>
          <a:prstGeom prst="line">
            <a:avLst/>
          </a:prstGeom>
          <a:ln w="190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381760" y="2844800"/>
            <a:ext cx="10078720" cy="0"/>
          </a:xfrm>
          <a:prstGeom prst="line">
            <a:avLst/>
          </a:prstGeom>
          <a:ln w="190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81760" y="3657600"/>
            <a:ext cx="10078720" cy="0"/>
          </a:xfrm>
          <a:prstGeom prst="line">
            <a:avLst/>
          </a:prstGeom>
          <a:ln w="190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381760" y="4470400"/>
            <a:ext cx="10078720" cy="0"/>
          </a:xfrm>
          <a:prstGeom prst="line">
            <a:avLst/>
          </a:prstGeom>
          <a:ln w="190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81760" y="2032000"/>
            <a:ext cx="0" cy="325120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81760" y="5283200"/>
            <a:ext cx="100787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00480" y="2032000"/>
            <a:ext cx="812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00480" y="2844800"/>
            <a:ext cx="812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00480" y="3657600"/>
            <a:ext cx="812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300480" y="4470400"/>
            <a:ext cx="812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300480" y="5283200"/>
            <a:ext cx="812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788160" y="2939085"/>
            <a:ext cx="1625600" cy="234411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7840" y="2630221"/>
            <a:ext cx="1625600" cy="2652979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27520" y="2084019"/>
            <a:ext cx="1625600" cy="319918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47200" y="2032000"/>
            <a:ext cx="1625600" cy="3251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7680" y="6177280"/>
            <a:ext cx="11216640" cy="1"/>
          </a:xfrm>
          <a:custGeom>
            <a:avLst/>
            <a:gdLst/>
            <a:ahLst/>
            <a:cxnLst/>
            <a:rect l="0" t="0" r="r" b="b"/>
            <a:pathLst>
              <a:path w="11216640" h="1">
                <a:moveTo>
                  <a:pt x="0" y="0"/>
                </a:moveTo>
                <a:lnTo>
                  <a:pt x="1121664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80" y="558800"/>
            <a:ext cx="1900714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DETERMINISTIC DATA 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" y="812800"/>
            <a:ext cx="4137025" cy="42265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DejaVu Sans"/>
              </a:rPr>
              <a:t>Accuracy comparison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80" y="1259840"/>
            <a:ext cx="4358958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374151"/>
                </a:solidFill>
                <a:latin typeface="DejaVu Sans"/>
              </a:rPr>
              <a:t>Four checkpoints rendered directly from data.json.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0800" y="904240"/>
            <a:ext cx="93345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374151"/>
                </a:solidFill>
                <a:latin typeface="DejaVu Sans"/>
              </a:rPr>
              <a:t>Baseline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0000" y="904240"/>
            <a:ext cx="854551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374151"/>
                </a:solidFill>
                <a:latin typeface="DejaVu Sans"/>
              </a:rPr>
              <a:t>Current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3565" y="1971040"/>
            <a:ext cx="554355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600">
                <a:solidFill>
                  <a:srgbClr val="374151"/>
                </a:solidFill>
                <a:latin typeface="DejaVu Sans"/>
              </a:rPr>
              <a:t>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070" y="2783840"/>
            <a:ext cx="45085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600">
                <a:solidFill>
                  <a:srgbClr val="374151"/>
                </a:solidFill>
                <a:latin typeface="DejaVu Sans"/>
              </a:rPr>
              <a:t>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070" y="3596640"/>
            <a:ext cx="45085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600">
                <a:solidFill>
                  <a:srgbClr val="374151"/>
                </a:solidFill>
                <a:latin typeface="DejaVu Sans"/>
              </a:rPr>
              <a:t>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070" y="4409440"/>
            <a:ext cx="450850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600">
                <a:solidFill>
                  <a:srgbClr val="374151"/>
                </a:solidFill>
                <a:latin typeface="DejaVu Sans"/>
              </a:rPr>
              <a:t>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575" y="5222240"/>
            <a:ext cx="347345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/>
            <a:r>
              <a:rPr sz="1600">
                <a:solidFill>
                  <a:srgbClr val="374151"/>
                </a:solidFill>
                <a:latin typeface="DejaVu Sans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1760" y="1778000"/>
            <a:ext cx="1153001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ACCURACY (%)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04071" y="5842000"/>
            <a:ext cx="1034098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200">
                <a:solidFill>
                  <a:srgbClr val="64748B"/>
                </a:solidFill>
                <a:latin typeface="DejaVu Sans"/>
              </a:rPr>
              <a:t>CHECKPOINT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1699" y="2677160"/>
            <a:ext cx="878522" cy="2377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800" b="1">
                <a:solidFill>
                  <a:srgbClr val="1E3A5F"/>
                </a:solidFill>
                <a:latin typeface="DejaVu Sans"/>
              </a:rPr>
              <a:t>72.1%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1379" y="2372360"/>
            <a:ext cx="878522" cy="2377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800" b="1">
                <a:solidFill>
                  <a:srgbClr val="1E3A5F"/>
                </a:solidFill>
                <a:latin typeface="DejaVu Sans"/>
              </a:rPr>
              <a:t>81.6%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01059" y="1823720"/>
            <a:ext cx="878522" cy="2377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800" b="1">
                <a:solidFill>
                  <a:srgbClr val="0F766E"/>
                </a:solidFill>
                <a:latin typeface="DejaVu Sans"/>
              </a:rPr>
              <a:t>98.4%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7080" y="1772920"/>
            <a:ext cx="1005840" cy="23774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800" b="1">
                <a:solidFill>
                  <a:srgbClr val="0F766E"/>
                </a:solidFill>
                <a:latin typeface="DejaVu Sans"/>
              </a:rPr>
              <a:t>100.0%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2717" y="5486400"/>
            <a:ext cx="1096486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374151"/>
                </a:solidFill>
                <a:latin typeface="DejaVu Sans"/>
              </a:rPr>
              <a:t>Baseline 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238" y="5486400"/>
            <a:ext cx="1096804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374151"/>
                </a:solidFill>
                <a:latin typeface="DejaVu Sans"/>
              </a:rPr>
              <a:t>Baseline 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1526" y="5486400"/>
            <a:ext cx="1017588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374151"/>
                </a:solidFill>
                <a:latin typeface="DejaVu Sans"/>
              </a:rPr>
              <a:t>Current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51048" y="5486400"/>
            <a:ext cx="1017905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1600">
                <a:solidFill>
                  <a:srgbClr val="374151"/>
                </a:solidFill>
                <a:latin typeface="DejaVu Sans"/>
              </a:rPr>
              <a:t>Current 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7680" y="6329680"/>
            <a:ext cx="3896836" cy="1584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200">
                <a:solidFill>
                  <a:srgbClr val="64748B"/>
                </a:solidFill>
                <a:latin typeface="DejaVu Sans"/>
              </a:rPr>
              <a:t>Source data: accuracy-comparison/data.json • unit: percent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