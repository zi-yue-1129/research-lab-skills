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7680" y="1391920"/>
            <a:ext cx="11216640" cy="1"/>
          </a:xfrm>
          <a:custGeom>
            <a:avLst/>
            <a:gdLst/>
            <a:ahLst/>
            <a:cxnLst/>
            <a:rect l="0" t="0" r="r" b="b"/>
            <a:pathLst>
              <a:path w="11216640" h="1">
                <a:moveTo>
                  <a:pt x="0" y="0"/>
                </a:moveTo>
                <a:lnTo>
                  <a:pt x="11216640" y="0"/>
                </a:lnTo>
              </a:path>
            </a:pathLst>
          </a:custGeom>
          <a:noFill/>
          <a:ln w="25400">
            <a:solidFill>
              <a:srgbClr val="D9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97760" y="3556000"/>
            <a:ext cx="325120" cy="1"/>
          </a:xfrm>
          <a:custGeom>
            <a:avLst/>
            <a:gdLst/>
            <a:ahLst/>
            <a:cxnLst/>
            <a:rect l="0" t="0" r="r" b="b"/>
            <a:pathLst>
              <a:path w="325120" h="1">
                <a:moveTo>
                  <a:pt x="0" y="0"/>
                </a:moveTo>
                <a:lnTo>
                  <a:pt x="325120" y="0"/>
                </a:lnTo>
              </a:path>
            </a:pathLst>
          </a:custGeom>
          <a:noFill/>
          <a:ln w="31750">
            <a:solidFill>
              <a:srgbClr val="6B9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651760" y="3495040"/>
            <a:ext cx="91440" cy="121920"/>
          </a:xfrm>
          <a:custGeom>
            <a:avLst/>
            <a:gdLst/>
            <a:ahLst/>
            <a:cxnLst/>
            <a:rect l="0" t="0" r="r" b="b"/>
            <a:pathLst>
              <a:path w="91440" h="121920">
                <a:moveTo>
                  <a:pt x="0" y="0"/>
                </a:moveTo>
                <a:lnTo>
                  <a:pt x="91440" y="60960"/>
                </a:lnTo>
                <a:lnTo>
                  <a:pt x="0" y="121920"/>
                </a:lnTo>
              </a:path>
            </a:pathLst>
          </a:custGeom>
          <a:noFill/>
          <a:ln w="31750">
            <a:solidFill>
              <a:srgbClr val="6B9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14240" y="3556000"/>
            <a:ext cx="325120" cy="1"/>
          </a:xfrm>
          <a:custGeom>
            <a:avLst/>
            <a:gdLst/>
            <a:ahLst/>
            <a:cxnLst/>
            <a:rect l="0" t="0" r="r" b="b"/>
            <a:pathLst>
              <a:path w="325120" h="1">
                <a:moveTo>
                  <a:pt x="0" y="0"/>
                </a:moveTo>
                <a:lnTo>
                  <a:pt x="325120" y="0"/>
                </a:lnTo>
              </a:path>
            </a:pathLst>
          </a:custGeom>
          <a:noFill/>
          <a:ln w="31750">
            <a:solidFill>
              <a:srgbClr val="6B9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68240" y="3495040"/>
            <a:ext cx="91440" cy="121920"/>
          </a:xfrm>
          <a:custGeom>
            <a:avLst/>
            <a:gdLst/>
            <a:ahLst/>
            <a:cxnLst/>
            <a:rect l="0" t="0" r="r" b="b"/>
            <a:pathLst>
              <a:path w="91440" h="121920">
                <a:moveTo>
                  <a:pt x="0" y="0"/>
                </a:moveTo>
                <a:lnTo>
                  <a:pt x="91440" y="60960"/>
                </a:lnTo>
                <a:lnTo>
                  <a:pt x="0" y="121920"/>
                </a:lnTo>
              </a:path>
            </a:pathLst>
          </a:custGeom>
          <a:noFill/>
          <a:ln w="31750">
            <a:solidFill>
              <a:srgbClr val="6B9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030720" y="3556000"/>
            <a:ext cx="325120" cy="1"/>
          </a:xfrm>
          <a:custGeom>
            <a:avLst/>
            <a:gdLst/>
            <a:ahLst/>
            <a:cxnLst/>
            <a:rect l="0" t="0" r="r" b="b"/>
            <a:pathLst>
              <a:path w="325120" h="1">
                <a:moveTo>
                  <a:pt x="0" y="0"/>
                </a:moveTo>
                <a:lnTo>
                  <a:pt x="325120" y="0"/>
                </a:lnTo>
              </a:path>
            </a:pathLst>
          </a:custGeom>
          <a:noFill/>
          <a:ln w="31750">
            <a:solidFill>
              <a:srgbClr val="6B9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84720" y="3495040"/>
            <a:ext cx="91440" cy="121920"/>
          </a:xfrm>
          <a:custGeom>
            <a:avLst/>
            <a:gdLst/>
            <a:ahLst/>
            <a:cxnLst/>
            <a:rect l="0" t="0" r="r" b="b"/>
            <a:pathLst>
              <a:path w="91440" h="121920">
                <a:moveTo>
                  <a:pt x="0" y="0"/>
                </a:moveTo>
                <a:lnTo>
                  <a:pt x="91440" y="60960"/>
                </a:lnTo>
                <a:lnTo>
                  <a:pt x="0" y="121920"/>
                </a:lnTo>
              </a:path>
            </a:pathLst>
          </a:custGeom>
          <a:noFill/>
          <a:ln w="31750">
            <a:solidFill>
              <a:srgbClr val="6B9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347200" y="3556000"/>
            <a:ext cx="325120" cy="1"/>
          </a:xfrm>
          <a:custGeom>
            <a:avLst/>
            <a:gdLst/>
            <a:ahLst/>
            <a:cxnLst/>
            <a:rect l="0" t="0" r="r" b="b"/>
            <a:pathLst>
              <a:path w="325120" h="1">
                <a:moveTo>
                  <a:pt x="0" y="0"/>
                </a:moveTo>
                <a:lnTo>
                  <a:pt x="325120" y="0"/>
                </a:lnTo>
              </a:path>
            </a:pathLst>
          </a:custGeom>
          <a:noFill/>
          <a:ln w="31750">
            <a:solidFill>
              <a:srgbClr val="6B9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01200" y="3495040"/>
            <a:ext cx="91440" cy="121920"/>
          </a:xfrm>
          <a:custGeom>
            <a:avLst/>
            <a:gdLst/>
            <a:ahLst/>
            <a:cxnLst/>
            <a:rect l="0" t="0" r="r" b="b"/>
            <a:pathLst>
              <a:path w="91440" h="121920">
                <a:moveTo>
                  <a:pt x="0" y="0"/>
                </a:moveTo>
                <a:lnTo>
                  <a:pt x="91440" y="60960"/>
                </a:lnTo>
                <a:lnTo>
                  <a:pt x="0" y="121920"/>
                </a:lnTo>
              </a:path>
            </a:pathLst>
          </a:custGeom>
          <a:noFill/>
          <a:ln w="31750">
            <a:solidFill>
              <a:srgbClr val="6B9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7680" y="2103120"/>
            <a:ext cx="1910080" cy="3048000"/>
          </a:xfrm>
          <a:prstGeom prst="rect">
            <a:avLst/>
          </a:prstGeom>
          <a:solidFill>
            <a:srgbClr val="FFFFFF"/>
          </a:solidFill>
          <a:ln w="25400">
            <a:solidFill>
              <a:srgbClr val="B9C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7680" y="2103120"/>
            <a:ext cx="1910080" cy="71120"/>
          </a:xfrm>
          <a:prstGeom prst="rect">
            <a:avLst/>
          </a:prstGeom>
          <a:solidFill>
            <a:srgbClr val="4F8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1200" y="2672080"/>
            <a:ext cx="508000" cy="508000"/>
          </a:xfrm>
          <a:prstGeom prst="rect">
            <a:avLst/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794000"/>
            <a:ext cx="284480" cy="223520"/>
          </a:xfrm>
          <a:custGeom>
            <a:avLst/>
            <a:gdLst/>
            <a:ahLst/>
            <a:cxnLst/>
            <a:rect l="0" t="0" r="r" b="b"/>
            <a:pathLst>
              <a:path w="284480" h="223520">
                <a:moveTo>
                  <a:pt x="0" y="0"/>
                </a:moveTo>
                <a:lnTo>
                  <a:pt x="284480" y="0"/>
                </a:lnTo>
                <a:moveTo>
                  <a:pt x="0" y="111760"/>
                </a:moveTo>
                <a:lnTo>
                  <a:pt x="284480" y="111760"/>
                </a:lnTo>
                <a:moveTo>
                  <a:pt x="0" y="223520"/>
                </a:moveTo>
                <a:lnTo>
                  <a:pt x="193040" y="223520"/>
                </a:lnTo>
              </a:path>
            </a:pathLst>
          </a:custGeom>
          <a:noFill/>
          <a:ln w="38100">
            <a:solidFill>
              <a:srgbClr val="4F86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1200" y="4561840"/>
            <a:ext cx="1463040" cy="1"/>
          </a:xfrm>
          <a:custGeom>
            <a:avLst/>
            <a:gdLst/>
            <a:ahLst/>
            <a:cxnLst/>
            <a:rect l="0" t="0" r="r" b="b"/>
            <a:pathLst>
              <a:path w="1463040" h="1">
                <a:moveTo>
                  <a:pt x="0" y="0"/>
                </a:moveTo>
                <a:lnTo>
                  <a:pt x="1463040" y="0"/>
                </a:lnTo>
              </a:path>
            </a:pathLst>
          </a:custGeom>
          <a:noFill/>
          <a:ln w="19050">
            <a:solidFill>
              <a:srgbClr val="E2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04160" y="2103120"/>
            <a:ext cx="1910080" cy="3048000"/>
          </a:xfrm>
          <a:prstGeom prst="rect">
            <a:avLst/>
          </a:prstGeom>
          <a:solidFill>
            <a:srgbClr val="FFFFFF"/>
          </a:solidFill>
          <a:ln w="25400">
            <a:solidFill>
              <a:srgbClr val="B9C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04160" y="2103120"/>
            <a:ext cx="1910080" cy="71120"/>
          </a:xfrm>
          <a:prstGeom prst="rect">
            <a:avLst/>
          </a:prstGeom>
          <a:solidFill>
            <a:srgbClr val="4F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27680" y="2672080"/>
            <a:ext cx="508000" cy="508000"/>
          </a:xfrm>
          <a:prstGeom prst="rect">
            <a:avLst/>
          </a:prstGeom>
          <a:solidFill>
            <a:srgbClr val="EE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39440" y="2733040"/>
            <a:ext cx="284480" cy="365760"/>
          </a:xfrm>
          <a:custGeom>
            <a:avLst/>
            <a:gdLst/>
            <a:ahLst/>
            <a:cxnLst/>
            <a:rect l="0" t="0" r="r" b="b"/>
            <a:pathLst>
              <a:path w="284480" h="365760">
                <a:moveTo>
                  <a:pt x="0" y="50800"/>
                </a:moveTo>
                <a:lnTo>
                  <a:pt x="284480" y="50800"/>
                </a:lnTo>
                <a:moveTo>
                  <a:pt x="0" y="182880"/>
                </a:moveTo>
                <a:lnTo>
                  <a:pt x="284480" y="182880"/>
                </a:lnTo>
                <a:moveTo>
                  <a:pt x="0" y="314960"/>
                </a:moveTo>
                <a:lnTo>
                  <a:pt x="284480" y="314960"/>
                </a:lnTo>
                <a:moveTo>
                  <a:pt x="111760" y="0"/>
                </a:moveTo>
                <a:lnTo>
                  <a:pt x="111760" y="101600"/>
                </a:lnTo>
                <a:moveTo>
                  <a:pt x="233680" y="132080"/>
                </a:moveTo>
                <a:lnTo>
                  <a:pt x="233680" y="233680"/>
                </a:lnTo>
                <a:moveTo>
                  <a:pt x="60960" y="264160"/>
                </a:moveTo>
                <a:lnTo>
                  <a:pt x="60960" y="365760"/>
                </a:lnTo>
              </a:path>
            </a:pathLst>
          </a:custGeom>
          <a:noFill/>
          <a:ln w="31750">
            <a:solidFill>
              <a:srgbClr val="4F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027680" y="4561840"/>
            <a:ext cx="1463040" cy="1"/>
          </a:xfrm>
          <a:custGeom>
            <a:avLst/>
            <a:gdLst/>
            <a:ahLst/>
            <a:cxnLst/>
            <a:rect l="0" t="0" r="r" b="b"/>
            <a:pathLst>
              <a:path w="1463040" h="1">
                <a:moveTo>
                  <a:pt x="0" y="0"/>
                </a:moveTo>
                <a:lnTo>
                  <a:pt x="1463040" y="0"/>
                </a:lnTo>
              </a:path>
            </a:pathLst>
          </a:custGeom>
          <a:noFill/>
          <a:ln w="19050">
            <a:solidFill>
              <a:srgbClr val="E2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20640" y="2103120"/>
            <a:ext cx="1910080" cy="3048000"/>
          </a:xfrm>
          <a:prstGeom prst="rect">
            <a:avLst/>
          </a:prstGeom>
          <a:solidFill>
            <a:srgbClr val="FFFFFF"/>
          </a:solidFill>
          <a:ln w="25400">
            <a:solidFill>
              <a:srgbClr val="B9C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2103120"/>
            <a:ext cx="1910080" cy="71120"/>
          </a:xfrm>
          <a:prstGeom prst="rect">
            <a:avLst/>
          </a:prstGeom>
          <a:solidFill>
            <a:srgbClr val="6C78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44160" y="2672080"/>
            <a:ext cx="508000" cy="508000"/>
          </a:xfrm>
          <a:prstGeom prst="rect">
            <a:avLst/>
          </a:prstGeom>
          <a:solidFill>
            <a:srgbClr val="F0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55920" y="2783840"/>
            <a:ext cx="284480" cy="274320"/>
          </a:xfrm>
          <a:custGeom>
            <a:avLst/>
            <a:gdLst/>
            <a:ahLst/>
            <a:cxnLst/>
            <a:rect l="0" t="0" r="r" b="b"/>
            <a:pathLst>
              <a:path w="284480" h="274320">
                <a:moveTo>
                  <a:pt x="0" y="274320"/>
                </a:moveTo>
                <a:lnTo>
                  <a:pt x="0" y="0"/>
                </a:lnTo>
                <a:moveTo>
                  <a:pt x="0" y="274320"/>
                </a:moveTo>
                <a:lnTo>
                  <a:pt x="284480" y="274320"/>
                </a:lnTo>
                <a:moveTo>
                  <a:pt x="40640" y="203200"/>
                </a:moveTo>
                <a:lnTo>
                  <a:pt x="111760" y="132080"/>
                </a:lnTo>
                <a:lnTo>
                  <a:pt x="182880" y="162560"/>
                </a:lnTo>
                <a:lnTo>
                  <a:pt x="264160" y="30480"/>
                </a:lnTo>
              </a:path>
            </a:pathLst>
          </a:custGeom>
          <a:noFill/>
          <a:ln w="35560">
            <a:solidFill>
              <a:srgbClr val="6C78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44160" y="4561840"/>
            <a:ext cx="1463040" cy="1"/>
          </a:xfrm>
          <a:custGeom>
            <a:avLst/>
            <a:gdLst/>
            <a:ahLst/>
            <a:cxnLst/>
            <a:rect l="0" t="0" r="r" b="b"/>
            <a:pathLst>
              <a:path w="1463040" h="1">
                <a:moveTo>
                  <a:pt x="0" y="0"/>
                </a:moveTo>
                <a:lnTo>
                  <a:pt x="1463040" y="0"/>
                </a:lnTo>
              </a:path>
            </a:pathLst>
          </a:custGeom>
          <a:noFill/>
          <a:ln w="19050">
            <a:solidFill>
              <a:srgbClr val="E2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37120" y="2103120"/>
            <a:ext cx="1910080" cy="3048000"/>
          </a:xfrm>
          <a:prstGeom prst="rect">
            <a:avLst/>
          </a:prstGeom>
          <a:solidFill>
            <a:srgbClr val="FFFFFF"/>
          </a:solidFill>
          <a:ln w="25400">
            <a:solidFill>
              <a:srgbClr val="B9C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37120" y="2103120"/>
            <a:ext cx="1910080" cy="71120"/>
          </a:xfrm>
          <a:prstGeom prst="rect">
            <a:avLst/>
          </a:prstGeom>
          <a:solidFill>
            <a:srgbClr val="C18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60640" y="2672080"/>
            <a:ext cx="508000" cy="508000"/>
          </a:xfrm>
          <a:prstGeom prst="rect">
            <a:avLst/>
          </a:prstGeom>
          <a:solidFill>
            <a:srgbClr val="FB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0" y="2783840"/>
            <a:ext cx="284480" cy="274320"/>
          </a:xfrm>
          <a:custGeom>
            <a:avLst/>
            <a:gdLst/>
            <a:ahLst/>
            <a:cxnLst/>
            <a:rect l="0" t="0" r="r" b="b"/>
            <a:pathLst>
              <a:path w="284480" h="274320">
                <a:moveTo>
                  <a:pt x="0" y="274320"/>
                </a:moveTo>
                <a:lnTo>
                  <a:pt x="0" y="0"/>
                </a:lnTo>
                <a:moveTo>
                  <a:pt x="0" y="274320"/>
                </a:moveTo>
                <a:lnTo>
                  <a:pt x="284480" y="274320"/>
                </a:lnTo>
                <a:moveTo>
                  <a:pt x="50800" y="172720"/>
                </a:moveTo>
                <a:lnTo>
                  <a:pt x="121920" y="101600"/>
                </a:lnTo>
                <a:lnTo>
                  <a:pt x="193040" y="142240"/>
                </a:lnTo>
                <a:lnTo>
                  <a:pt x="274320" y="30480"/>
                </a:lnTo>
              </a:path>
            </a:pathLst>
          </a:custGeom>
          <a:noFill/>
          <a:ln w="35560">
            <a:solidFill>
              <a:srgbClr val="C18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60640" y="4561840"/>
            <a:ext cx="1463040" cy="1"/>
          </a:xfrm>
          <a:custGeom>
            <a:avLst/>
            <a:gdLst/>
            <a:ahLst/>
            <a:cxnLst/>
            <a:rect l="0" t="0" r="r" b="b"/>
            <a:pathLst>
              <a:path w="1463040" h="1">
                <a:moveTo>
                  <a:pt x="0" y="0"/>
                </a:moveTo>
                <a:lnTo>
                  <a:pt x="1463040" y="0"/>
                </a:lnTo>
              </a:path>
            </a:pathLst>
          </a:custGeom>
          <a:noFill/>
          <a:ln w="19050">
            <a:solidFill>
              <a:srgbClr val="E2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538720" y="1534160"/>
            <a:ext cx="1808480" cy="426720"/>
          </a:xfrm>
          <a:prstGeom prst="rect">
            <a:avLst/>
          </a:prstGeom>
          <a:solidFill>
            <a:srgbClr val="FFF8EF"/>
          </a:solidFill>
          <a:ln w="25400">
            <a:solidFill>
              <a:srgbClr val="C18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630160" y="1656080"/>
            <a:ext cx="182880" cy="182880"/>
          </a:xfrm>
          <a:prstGeom prst="ellipse">
            <a:avLst/>
          </a:prstGeom>
          <a:solidFill>
            <a:srgbClr val="C18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660640" y="1696720"/>
            <a:ext cx="121920" cy="132080"/>
          </a:xfrm>
          <a:custGeom>
            <a:avLst/>
            <a:gdLst/>
            <a:ahLst/>
            <a:cxnLst/>
            <a:rect l="0" t="0" r="r" b="b"/>
            <a:pathLst>
              <a:path w="121920" h="132080">
                <a:moveTo>
                  <a:pt x="20320" y="40640"/>
                </a:moveTo>
                <a:cubicBezTo>
                  <a:pt x="20320" y="18195"/>
                  <a:pt x="38515" y="0"/>
                  <a:pt x="60960" y="0"/>
                </a:cubicBezTo>
                <a:cubicBezTo>
                  <a:pt x="83405" y="0"/>
                  <a:pt x="101600" y="18195"/>
                  <a:pt x="101600" y="40640"/>
                </a:cubicBezTo>
                <a:moveTo>
                  <a:pt x="0" y="132080"/>
                </a:moveTo>
                <a:cubicBezTo>
                  <a:pt x="20320" y="91440"/>
                  <a:pt x="101600" y="91440"/>
                  <a:pt x="121920" y="132080"/>
                </a:cubicBezTo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92160" y="1971040"/>
            <a:ext cx="1" cy="132080"/>
          </a:xfrm>
          <a:custGeom>
            <a:avLst/>
            <a:gdLst/>
            <a:ahLst/>
            <a:cxnLst/>
            <a:rect l="0" t="0" r="r" b="b"/>
            <a:pathLst>
              <a:path w="1" h="132080">
                <a:moveTo>
                  <a:pt x="0" y="132080"/>
                </a:moveTo>
                <a:lnTo>
                  <a:pt x="0" y="0"/>
                </a:lnTo>
              </a:path>
            </a:pathLst>
          </a:custGeom>
          <a:noFill/>
          <a:ln w="31750">
            <a:solidFill>
              <a:srgbClr val="C18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31200" y="1940560"/>
            <a:ext cx="121920" cy="91440"/>
          </a:xfrm>
          <a:custGeom>
            <a:avLst/>
            <a:gdLst/>
            <a:ahLst/>
            <a:cxnLst/>
            <a:rect l="0" t="0" r="r" b="b"/>
            <a:pathLst>
              <a:path w="121920" h="91440">
                <a:moveTo>
                  <a:pt x="0" y="91440"/>
                </a:moveTo>
                <a:lnTo>
                  <a:pt x="60960" y="0"/>
                </a:lnTo>
                <a:lnTo>
                  <a:pt x="121920" y="91440"/>
                </a:lnTo>
              </a:path>
            </a:pathLst>
          </a:custGeom>
          <a:noFill/>
          <a:ln w="31750">
            <a:solidFill>
              <a:srgbClr val="C18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>
            <a:stCxn id="32" idx="3"/>
          </p:cNvCxnSpPr>
          <p:nvPr/>
        </p:nvCxnSpPr>
        <p:spPr>
          <a:xfrm>
            <a:off x="9347200" y="1747520"/>
            <a:ext cx="243840" cy="0"/>
          </a:xfrm>
          <a:prstGeom prst="line">
            <a:avLst/>
          </a:prstGeom>
          <a:ln w="31750">
            <a:solidFill>
              <a:srgbClr val="577E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9591040" y="1747520"/>
            <a:ext cx="81280" cy="1808480"/>
          </a:xfrm>
          <a:custGeom>
            <a:avLst/>
            <a:gdLst/>
            <a:ahLst/>
            <a:cxnLst/>
            <a:rect l="0" t="0" r="r" b="b"/>
            <a:pathLst>
              <a:path w="81280" h="1808480">
                <a:moveTo>
                  <a:pt x="0" y="0"/>
                </a:moveTo>
                <a:lnTo>
                  <a:pt x="0" y="1808480"/>
                </a:lnTo>
                <a:lnTo>
                  <a:pt x="81280" y="1808480"/>
                </a:lnTo>
              </a:path>
            </a:pathLst>
          </a:custGeom>
          <a:noFill/>
          <a:ln w="31750">
            <a:solidFill>
              <a:srgbClr val="577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01200" y="3495040"/>
            <a:ext cx="91440" cy="121920"/>
          </a:xfrm>
          <a:custGeom>
            <a:avLst/>
            <a:gdLst/>
            <a:ahLst/>
            <a:cxnLst/>
            <a:rect l="0" t="0" r="r" b="b"/>
            <a:pathLst>
              <a:path w="91440" h="121920">
                <a:moveTo>
                  <a:pt x="0" y="0"/>
                </a:moveTo>
                <a:lnTo>
                  <a:pt x="91440" y="60960"/>
                </a:lnTo>
                <a:lnTo>
                  <a:pt x="0" y="121920"/>
                </a:lnTo>
              </a:path>
            </a:pathLst>
          </a:custGeom>
          <a:noFill/>
          <a:ln w="31750">
            <a:solidFill>
              <a:srgbClr val="577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96000" y="1747520"/>
            <a:ext cx="1442720" cy="355600"/>
          </a:xfrm>
          <a:custGeom>
            <a:avLst/>
            <a:gdLst/>
            <a:ahLst/>
            <a:cxnLst/>
            <a:rect l="0" t="0" r="r" b="b"/>
            <a:pathLst>
              <a:path w="1442720" h="355600">
                <a:moveTo>
                  <a:pt x="1442720" y="0"/>
                </a:moveTo>
                <a:lnTo>
                  <a:pt x="1056640" y="0"/>
                </a:lnTo>
                <a:lnTo>
                  <a:pt x="1056640" y="121920"/>
                </a:lnTo>
                <a:lnTo>
                  <a:pt x="0" y="121920"/>
                </a:lnTo>
                <a:lnTo>
                  <a:pt x="0" y="355600"/>
                </a:lnTo>
              </a:path>
            </a:pathLst>
          </a:custGeom>
          <a:noFill/>
          <a:ln w="31750">
            <a:solidFill>
              <a:srgbClr val="B75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35040" y="2011680"/>
            <a:ext cx="121920" cy="91440"/>
          </a:xfrm>
          <a:custGeom>
            <a:avLst/>
            <a:gdLst/>
            <a:ahLst/>
            <a:cxnLst/>
            <a:rect l="0" t="0" r="r" b="b"/>
            <a:pathLst>
              <a:path w="121920" h="91440">
                <a:moveTo>
                  <a:pt x="0" y="0"/>
                </a:moveTo>
                <a:lnTo>
                  <a:pt x="60960" y="91440"/>
                </a:lnTo>
                <a:lnTo>
                  <a:pt x="121920" y="0"/>
                </a:lnTo>
              </a:path>
            </a:pathLst>
          </a:custGeom>
          <a:noFill/>
          <a:ln w="31750">
            <a:solidFill>
              <a:srgbClr val="B75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53600" y="2103120"/>
            <a:ext cx="1950720" cy="3048000"/>
          </a:xfrm>
          <a:prstGeom prst="rect">
            <a:avLst/>
          </a:prstGeom>
          <a:solidFill>
            <a:srgbClr val="FFFFFF"/>
          </a:solidFill>
          <a:ln w="25400">
            <a:solidFill>
              <a:srgbClr val="B9C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753600" y="2103120"/>
            <a:ext cx="1950720" cy="71120"/>
          </a:xfrm>
          <a:prstGeom prst="rect">
            <a:avLst/>
          </a:prstGeom>
          <a:solidFill>
            <a:srgbClr val="577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977120" y="2672080"/>
            <a:ext cx="508000" cy="508000"/>
          </a:xfrm>
          <a:prstGeom prst="rect">
            <a:avLst/>
          </a:prstGeom>
          <a:solidFill>
            <a:srgbClr val="EE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088880" y="2753360"/>
            <a:ext cx="264160" cy="335280"/>
          </a:xfrm>
          <a:custGeom>
            <a:avLst/>
            <a:gdLst/>
            <a:ahLst/>
            <a:cxnLst/>
            <a:rect l="0" t="0" r="r" b="b"/>
            <a:pathLst>
              <a:path w="264160" h="335280">
                <a:moveTo>
                  <a:pt x="0" y="254000"/>
                </a:moveTo>
                <a:lnTo>
                  <a:pt x="264160" y="254000"/>
                </a:lnTo>
                <a:lnTo>
                  <a:pt x="264160" y="335280"/>
                </a:lnTo>
                <a:lnTo>
                  <a:pt x="0" y="335280"/>
                </a:lnTo>
                <a:close/>
                <a:moveTo>
                  <a:pt x="132080" y="213360"/>
                </a:moveTo>
                <a:lnTo>
                  <a:pt x="132080" y="0"/>
                </a:lnTo>
                <a:moveTo>
                  <a:pt x="60960" y="71120"/>
                </a:moveTo>
                <a:lnTo>
                  <a:pt x="132080" y="0"/>
                </a:lnTo>
                <a:lnTo>
                  <a:pt x="203200" y="71120"/>
                </a:lnTo>
              </a:path>
            </a:pathLst>
          </a:custGeom>
          <a:noFill/>
          <a:ln w="33020">
            <a:solidFill>
              <a:srgbClr val="577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977120" y="4561840"/>
            <a:ext cx="1503680" cy="1"/>
          </a:xfrm>
          <a:custGeom>
            <a:avLst/>
            <a:gdLst/>
            <a:ahLst/>
            <a:cxnLst/>
            <a:rect l="0" t="0" r="r" b="b"/>
            <a:pathLst>
              <a:path w="1503680" h="1">
                <a:moveTo>
                  <a:pt x="0" y="0"/>
                </a:moveTo>
                <a:lnTo>
                  <a:pt x="1503680" y="0"/>
                </a:lnTo>
              </a:path>
            </a:pathLst>
          </a:custGeom>
          <a:noFill/>
          <a:ln w="19050">
            <a:solidFill>
              <a:srgbClr val="E2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7680" y="5608320"/>
            <a:ext cx="11216640" cy="1"/>
          </a:xfrm>
          <a:custGeom>
            <a:avLst/>
            <a:gdLst/>
            <a:ahLst/>
            <a:cxnLst/>
            <a:rect l="0" t="0" r="r" b="b"/>
            <a:pathLst>
              <a:path w="11216640" h="1">
                <a:moveTo>
                  <a:pt x="0" y="0"/>
                </a:moveTo>
                <a:lnTo>
                  <a:pt x="11216640" y="0"/>
                </a:lnTo>
              </a:path>
            </a:pathLst>
          </a:custGeom>
          <a:noFill/>
          <a:ln w="19050">
            <a:solidFill>
              <a:srgbClr val="D9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7680" y="388620"/>
            <a:ext cx="3076956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300" b="1">
                <a:solidFill>
                  <a:srgbClr val="5B7890"/>
                </a:solidFill>
                <a:latin typeface="Arial"/>
              </a:rPr>
              <a:t>REFERENCE ARCHITECTURE • BASELINE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7680" y="604520"/>
            <a:ext cx="6187440" cy="3962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3000" b="1">
                <a:solidFill>
                  <a:srgbClr val="15334A"/>
                </a:solidFill>
                <a:latin typeface="Arial"/>
              </a:rPr>
              <a:t>Training pipeline architecture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7680" y="1013460"/>
            <a:ext cx="697992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500">
                <a:solidFill>
                  <a:srgbClr val="5B7890"/>
                </a:solidFill>
                <a:latin typeface="Arial"/>
              </a:rPr>
              <a:t>Data moves through a controlled sequence of native, editable stages.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7680" y="1684020"/>
            <a:ext cx="1551432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 b="1">
                <a:solidFill>
                  <a:srgbClr val="7892A4"/>
                </a:solidFill>
                <a:latin typeface="Arial"/>
              </a:rPr>
              <a:t>DIRECTED DATA FLOW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1200" y="2387600"/>
            <a:ext cx="402336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 b="1">
                <a:solidFill>
                  <a:srgbClr val="6E899D"/>
                </a:solidFill>
                <a:latin typeface="Arial"/>
              </a:rPr>
              <a:t>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1200" y="3418840"/>
            <a:ext cx="1670304" cy="23774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800" b="1">
                <a:solidFill>
                  <a:srgbClr val="15334A"/>
                </a:solidFill>
                <a:latin typeface="Arial"/>
              </a:rPr>
              <a:t>Data sources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1200" y="3886200"/>
            <a:ext cx="1353312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400">
                <a:solidFill>
                  <a:srgbClr val="557085"/>
                </a:solidFill>
                <a:latin typeface="Arial"/>
              </a:rPr>
              <a:t>Raw inputs &amp;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1200" y="4099560"/>
            <a:ext cx="983488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400">
                <a:solidFill>
                  <a:srgbClr val="557085"/>
                </a:solidFill>
                <a:latin typeface="Arial"/>
              </a:rPr>
              <a:t>metadata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1200" y="4739640"/>
            <a:ext cx="64008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000" b="1">
                <a:solidFill>
                  <a:srgbClr val="7892A4"/>
                </a:solidFill>
                <a:latin typeface="Arial"/>
              </a:rPr>
              <a:t>OUTPUT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21892" y="4732020"/>
            <a:ext cx="752348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100" b="1">
                <a:solidFill>
                  <a:srgbClr val="4F86A3"/>
                </a:solidFill>
                <a:latin typeface="Arial"/>
              </a:rPr>
              <a:t>DATASET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27680" y="2387600"/>
            <a:ext cx="402336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 b="1">
                <a:solidFill>
                  <a:srgbClr val="6E899D"/>
                </a:solidFill>
                <a:latin typeface="Arial"/>
              </a:rPr>
              <a:t>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27680" y="3375660"/>
            <a:ext cx="1029716" cy="22453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700" b="1">
                <a:solidFill>
                  <a:srgbClr val="15334A"/>
                </a:solidFill>
                <a:latin typeface="Arial"/>
              </a:rPr>
              <a:t>Feature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27680" y="3599180"/>
            <a:ext cx="1366520" cy="22453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700" b="1">
                <a:solidFill>
                  <a:srgbClr val="15334A"/>
                </a:solidFill>
                <a:latin typeface="Arial"/>
              </a:rPr>
              <a:t>processing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27680" y="4028440"/>
            <a:ext cx="1815592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400">
                <a:solidFill>
                  <a:srgbClr val="557085"/>
                </a:solidFill>
                <a:latin typeface="Arial"/>
              </a:rPr>
              <a:t>Normalize, encode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27680" y="4241800"/>
            <a:ext cx="1075944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400">
                <a:solidFill>
                  <a:srgbClr val="557085"/>
                </a:solidFill>
                <a:latin typeface="Arial"/>
              </a:rPr>
              <a:t>and split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27680" y="4739640"/>
            <a:ext cx="64008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000" b="1">
                <a:solidFill>
                  <a:srgbClr val="7892A4"/>
                </a:solidFill>
                <a:latin typeface="Arial"/>
              </a:rPr>
              <a:t>OUTPUT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47796" y="4732020"/>
            <a:ext cx="1042924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100" b="1">
                <a:solidFill>
                  <a:srgbClr val="4F9A9A"/>
                </a:solidFill>
                <a:latin typeface="Arial"/>
              </a:rPr>
              <a:t>FEATURE SET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44160" y="2387600"/>
            <a:ext cx="402336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 b="1">
                <a:solidFill>
                  <a:srgbClr val="6E899D"/>
                </a:solidFill>
                <a:latin typeface="Arial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44160" y="3418840"/>
            <a:ext cx="1908048" cy="23774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800" b="1">
                <a:solidFill>
                  <a:srgbClr val="15334A"/>
                </a:solidFill>
                <a:latin typeface="Arial"/>
              </a:rPr>
              <a:t>Model training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44160" y="3886200"/>
            <a:ext cx="1075944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400">
                <a:solidFill>
                  <a:srgbClr val="557085"/>
                </a:solidFill>
                <a:latin typeface="Arial"/>
              </a:rPr>
              <a:t>Fit model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44160" y="4099560"/>
            <a:ext cx="1168400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400">
                <a:solidFill>
                  <a:srgbClr val="557085"/>
                </a:solidFill>
                <a:latin typeface="Arial"/>
              </a:rPr>
              <a:t>parameters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44160" y="4739640"/>
            <a:ext cx="64008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000" b="1">
                <a:solidFill>
                  <a:srgbClr val="7892A4"/>
                </a:solidFill>
                <a:latin typeface="Arial"/>
              </a:rPr>
              <a:t>OUTPUT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00140" y="4732020"/>
            <a:ext cx="607060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100" b="1">
                <a:solidFill>
                  <a:srgbClr val="6C78B7"/>
                </a:solidFill>
                <a:latin typeface="Arial"/>
              </a:rPr>
              <a:t>MODEL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60640" y="2387600"/>
            <a:ext cx="402336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 b="1">
                <a:solidFill>
                  <a:srgbClr val="6E899D"/>
                </a:solidFill>
                <a:latin typeface="Arial"/>
              </a:rPr>
              <a:t>04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60640" y="3375660"/>
            <a:ext cx="1366520" cy="22453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700" b="1">
                <a:solidFill>
                  <a:srgbClr val="15334A"/>
                </a:solidFill>
                <a:latin typeface="Arial"/>
              </a:rPr>
              <a:t>Evaluation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60640" y="3599180"/>
            <a:ext cx="805180" cy="22453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700" b="1">
                <a:solidFill>
                  <a:srgbClr val="15334A"/>
                </a:solidFill>
                <a:latin typeface="Arial"/>
              </a:rPr>
              <a:t>stage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60640" y="4028440"/>
            <a:ext cx="891032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400">
                <a:solidFill>
                  <a:srgbClr val="557085"/>
                </a:solidFill>
                <a:latin typeface="Arial"/>
              </a:rPr>
              <a:t>Holdout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60640" y="4241800"/>
            <a:ext cx="891032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400">
                <a:solidFill>
                  <a:srgbClr val="557085"/>
                </a:solidFill>
                <a:latin typeface="Arial"/>
              </a:rPr>
              <a:t>metrics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60640" y="4739640"/>
            <a:ext cx="64008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000" b="1">
                <a:solidFill>
                  <a:srgbClr val="7892A4"/>
                </a:solidFill>
                <a:latin typeface="Arial"/>
              </a:rPr>
              <a:t>OUTPUT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371332" y="4732020"/>
            <a:ext cx="752348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100" b="1">
                <a:solidFill>
                  <a:srgbClr val="C18A4A"/>
                </a:solidFill>
                <a:latin typeface="Arial"/>
              </a:rPr>
              <a:t>METRICS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94320" y="1633220"/>
            <a:ext cx="1115568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 b="1">
                <a:solidFill>
                  <a:srgbClr val="15334A"/>
                </a:solidFill>
                <a:latin typeface="Arial"/>
              </a:rPr>
              <a:t>HUMAN REVIEW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94320" y="1803400"/>
            <a:ext cx="136652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000">
                <a:solidFill>
                  <a:srgbClr val="8B6840"/>
                </a:solidFill>
                <a:latin typeface="Arial"/>
              </a:rPr>
              <a:t>Approve or return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70188" y="1577340"/>
            <a:ext cx="659892" cy="11887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900" b="1">
                <a:solidFill>
                  <a:srgbClr val="577E68"/>
                </a:solidFill>
                <a:latin typeface="Arial"/>
              </a:rPr>
              <a:t>APPROVE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75426" y="1739900"/>
            <a:ext cx="1016508" cy="11887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900" b="1">
                <a:solidFill>
                  <a:srgbClr val="B75D4A"/>
                </a:solidFill>
                <a:latin typeface="Arial"/>
              </a:rPr>
              <a:t>FAIL / RE-RUN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977120" y="2387600"/>
            <a:ext cx="402336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 b="1">
                <a:solidFill>
                  <a:srgbClr val="6E899D"/>
                </a:solidFill>
                <a:latin typeface="Arial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77120" y="3418840"/>
            <a:ext cx="1432560" cy="23774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800" b="1">
                <a:solidFill>
                  <a:srgbClr val="15334A"/>
                </a:solidFill>
                <a:latin typeface="Arial"/>
              </a:rPr>
              <a:t>Publishing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77120" y="3886200"/>
            <a:ext cx="1630680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400">
                <a:solidFill>
                  <a:srgbClr val="557085"/>
                </a:solidFill>
                <a:latin typeface="Arial"/>
              </a:rPr>
              <a:t>Versioned model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977120" y="4099560"/>
            <a:ext cx="983488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400">
                <a:solidFill>
                  <a:srgbClr val="557085"/>
                </a:solidFill>
                <a:latin typeface="Arial"/>
              </a:rPr>
              <a:t>artifact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977120" y="4739640"/>
            <a:ext cx="64008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000" b="1">
                <a:solidFill>
                  <a:srgbClr val="7892A4"/>
                </a:solidFill>
                <a:latin typeface="Arial"/>
              </a:rPr>
              <a:t>OUTPUT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655808" y="4732020"/>
            <a:ext cx="824992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100" b="1">
                <a:solidFill>
                  <a:srgbClr val="577E68"/>
                </a:solidFill>
                <a:latin typeface="Arial"/>
              </a:rPr>
              <a:t>ARTIFACT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7680" y="5839460"/>
            <a:ext cx="1260856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 b="1">
                <a:solidFill>
                  <a:srgbClr val="7892A4"/>
                </a:solidFill>
                <a:latin typeface="Arial"/>
              </a:rPr>
              <a:t>BASELINE SCOPE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7680" y="6070600"/>
            <a:ext cx="4959096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400">
                <a:solidFill>
                  <a:srgbClr val="557085"/>
                </a:solidFill>
                <a:latin typeface="Arial"/>
              </a:rPr>
              <a:t>Five bounded stages with explicit forward handoffs.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5" name="Picture 34" descr="gener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447040" y="386080"/>
            <a:ext cx="4612640" cy="1056640"/>
          </a:xfrm>
          <a:prstGeom prst="rect">
            <a:avLst/>
          </a:prstGeom>
          <a:solidFill>
            <a:srgbClr val="0D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47040" y="386080"/>
            <a:ext cx="71120" cy="1056640"/>
          </a:xfrm>
          <a:prstGeom prst="rect">
            <a:avLst/>
          </a:prstGeom>
          <a:solidFill>
            <a:srgbClr val="DDA4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47040" y="4927600"/>
            <a:ext cx="11297920" cy="14427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5262880"/>
            <a:ext cx="2214880" cy="589280"/>
          </a:xfrm>
          <a:prstGeom prst="rect">
            <a:avLst/>
          </a:prstGeom>
          <a:solidFill>
            <a:srgbClr val="F7FBFC"/>
          </a:solidFill>
          <a:ln w="25400">
            <a:solidFill>
              <a:srgbClr val="4F86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3600" y="5466080"/>
            <a:ext cx="182880" cy="182880"/>
          </a:xfrm>
          <a:prstGeom prst="ellipse">
            <a:avLst/>
          </a:prstGeom>
          <a:solidFill>
            <a:srgbClr val="DDA4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4080" y="5516880"/>
            <a:ext cx="121920" cy="121920"/>
          </a:xfrm>
          <a:custGeom>
            <a:avLst/>
            <a:gdLst/>
            <a:ahLst/>
            <a:cxnLst/>
            <a:rect l="0" t="0" r="r" b="b"/>
            <a:pathLst>
              <a:path w="121920" h="121920">
                <a:moveTo>
                  <a:pt x="20320" y="40640"/>
                </a:moveTo>
                <a:cubicBezTo>
                  <a:pt x="20320" y="18195"/>
                  <a:pt x="38515" y="0"/>
                  <a:pt x="60960" y="0"/>
                </a:cubicBezTo>
                <a:cubicBezTo>
                  <a:pt x="83405" y="0"/>
                  <a:pt x="101600" y="18195"/>
                  <a:pt x="101600" y="40640"/>
                </a:cubicBezTo>
                <a:moveTo>
                  <a:pt x="0" y="121920"/>
                </a:moveTo>
                <a:cubicBezTo>
                  <a:pt x="20320" y="81280"/>
                  <a:pt x="101600" y="81280"/>
                  <a:pt x="121920" y="121920"/>
                </a:cubicBezTo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083040" y="5262880"/>
            <a:ext cx="2214880" cy="589280"/>
          </a:xfrm>
          <a:prstGeom prst="rect">
            <a:avLst/>
          </a:prstGeom>
          <a:solidFill>
            <a:srgbClr val="F7FBFC"/>
          </a:solidFill>
          <a:ln w="25400">
            <a:solidFill>
              <a:srgbClr val="4F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15120" y="5466080"/>
            <a:ext cx="182880" cy="182880"/>
          </a:xfrm>
          <a:prstGeom prst="ellipse">
            <a:avLst/>
          </a:prstGeom>
          <a:solidFill>
            <a:srgbClr val="4F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55760" y="5506720"/>
            <a:ext cx="101600" cy="101600"/>
          </a:xfrm>
          <a:custGeom>
            <a:avLst/>
            <a:gdLst/>
            <a:ahLst/>
            <a:cxnLst/>
            <a:rect l="0" t="0" r="r" b="b"/>
            <a:pathLst>
              <a:path w="101600" h="101600">
                <a:moveTo>
                  <a:pt x="0" y="50800"/>
                </a:moveTo>
                <a:lnTo>
                  <a:pt x="101600" y="50800"/>
                </a:lnTo>
                <a:moveTo>
                  <a:pt x="50800" y="0"/>
                </a:moveTo>
                <a:lnTo>
                  <a:pt x="50800" y="101600"/>
                </a:lnTo>
                <a:moveTo>
                  <a:pt x="10160" y="10160"/>
                </a:moveTo>
                <a:lnTo>
                  <a:pt x="91440" y="91440"/>
                </a:lnTo>
                <a:moveTo>
                  <a:pt x="91440" y="10160"/>
                </a:moveTo>
                <a:lnTo>
                  <a:pt x="10160" y="91440"/>
                </a:lnTo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49600" y="5262880"/>
            <a:ext cx="1341120" cy="589280"/>
          </a:xfrm>
          <a:prstGeom prst="rect">
            <a:avLst/>
          </a:prstGeom>
          <a:solidFill>
            <a:srgbClr val="EEF5F8"/>
          </a:solidFill>
          <a:ln w="19050">
            <a:solidFill>
              <a:srgbClr val="B9C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34560" y="5262880"/>
            <a:ext cx="1341120" cy="589280"/>
          </a:xfrm>
          <a:prstGeom prst="rect">
            <a:avLst/>
          </a:prstGeom>
          <a:solidFill>
            <a:srgbClr val="EEF7F7"/>
          </a:solidFill>
          <a:ln w="19050">
            <a:solidFill>
              <a:srgbClr val="B9C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19520" y="5262880"/>
            <a:ext cx="1341120" cy="589280"/>
          </a:xfrm>
          <a:prstGeom prst="rect">
            <a:avLst/>
          </a:prstGeom>
          <a:solidFill>
            <a:srgbClr val="FBF5EC"/>
          </a:solidFill>
          <a:ln w="19050">
            <a:solidFill>
              <a:srgbClr val="D7B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90720" y="5557520"/>
            <a:ext cx="162560" cy="1"/>
          </a:xfrm>
          <a:custGeom>
            <a:avLst/>
            <a:gdLst/>
            <a:ahLst/>
            <a:cxnLst/>
            <a:rect l="0" t="0" r="r" b="b"/>
            <a:pathLst>
              <a:path w="162560" h="1">
                <a:moveTo>
                  <a:pt x="0" y="0"/>
                </a:moveTo>
                <a:lnTo>
                  <a:pt x="162560" y="0"/>
                </a:lnTo>
              </a:path>
            </a:pathLst>
          </a:custGeom>
          <a:noFill/>
          <a:ln w="31750">
            <a:solidFill>
              <a:srgbClr val="6B9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92320" y="5496560"/>
            <a:ext cx="81280" cy="121920"/>
          </a:xfrm>
          <a:custGeom>
            <a:avLst/>
            <a:gdLst/>
            <a:ahLst/>
            <a:cxnLst/>
            <a:rect l="0" t="0" r="r" b="b"/>
            <a:pathLst>
              <a:path w="81280" h="121920">
                <a:moveTo>
                  <a:pt x="0" y="0"/>
                </a:moveTo>
                <a:lnTo>
                  <a:pt x="81280" y="60960"/>
                </a:lnTo>
                <a:lnTo>
                  <a:pt x="0" y="121920"/>
                </a:lnTo>
              </a:path>
            </a:pathLst>
          </a:custGeom>
          <a:noFill/>
          <a:ln w="31750">
            <a:solidFill>
              <a:srgbClr val="6B9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75680" y="5557520"/>
            <a:ext cx="162560" cy="1"/>
          </a:xfrm>
          <a:custGeom>
            <a:avLst/>
            <a:gdLst/>
            <a:ahLst/>
            <a:cxnLst/>
            <a:rect l="0" t="0" r="r" b="b"/>
            <a:pathLst>
              <a:path w="162560" h="1">
                <a:moveTo>
                  <a:pt x="0" y="0"/>
                </a:moveTo>
                <a:lnTo>
                  <a:pt x="162560" y="0"/>
                </a:lnTo>
              </a:path>
            </a:pathLst>
          </a:custGeom>
          <a:noFill/>
          <a:ln w="31750">
            <a:solidFill>
              <a:srgbClr val="6B9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7280" y="5496560"/>
            <a:ext cx="81280" cy="121920"/>
          </a:xfrm>
          <a:custGeom>
            <a:avLst/>
            <a:gdLst/>
            <a:ahLst/>
            <a:cxnLst/>
            <a:rect l="0" t="0" r="r" b="b"/>
            <a:pathLst>
              <a:path w="81280" h="121920">
                <a:moveTo>
                  <a:pt x="0" y="0"/>
                </a:moveTo>
                <a:lnTo>
                  <a:pt x="81280" y="60960"/>
                </a:lnTo>
                <a:lnTo>
                  <a:pt x="0" y="121920"/>
                </a:lnTo>
              </a:path>
            </a:pathLst>
          </a:custGeom>
          <a:noFill/>
          <a:ln w="31750">
            <a:solidFill>
              <a:srgbClr val="6B9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46400" y="5994400"/>
            <a:ext cx="4714240" cy="274320"/>
          </a:xfrm>
          <a:custGeom>
            <a:avLst/>
            <a:gdLst/>
            <a:ahLst/>
            <a:cxnLst/>
            <a:rect l="0" t="0" r="r" b="b"/>
            <a:pathLst>
              <a:path w="4714240" h="274320">
                <a:moveTo>
                  <a:pt x="4714240" y="0"/>
                </a:moveTo>
                <a:cubicBezTo>
                  <a:pt x="3352800" y="274320"/>
                  <a:pt x="1605280" y="274320"/>
                  <a:pt x="0" y="0"/>
                </a:cubicBezTo>
              </a:path>
            </a:pathLst>
          </a:custGeom>
          <a:noFill/>
          <a:ln w="31750">
            <a:solidFill>
              <a:srgbClr val="4F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26080" y="5933440"/>
            <a:ext cx="121920" cy="121920"/>
          </a:xfrm>
          <a:custGeom>
            <a:avLst/>
            <a:gdLst/>
            <a:ahLst/>
            <a:cxnLst/>
            <a:rect l="0" t="0" r="r" b="b"/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/>
          <a:ln w="31750">
            <a:solidFill>
              <a:srgbClr val="4F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1200" y="619760"/>
            <a:ext cx="1987296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 b="1">
                <a:solidFill>
                  <a:srgbClr val="B8DDE2"/>
                </a:solidFill>
                <a:latin typeface="Arial"/>
              </a:rPr>
              <a:t>RESEARCH COLLABORATION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200" y="868680"/>
            <a:ext cx="3677920" cy="3434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Researcher + AI loop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200" y="1201420"/>
            <a:ext cx="4793996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300">
                <a:solidFill>
                  <a:srgbClr val="D5E4EA"/>
                </a:solidFill>
                <a:latin typeface="Arial"/>
              </a:rPr>
              <a:t>Editable annotations sit above the illustrative base.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7920" y="5425440"/>
            <a:ext cx="1036320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 b="1">
                <a:solidFill>
                  <a:srgbClr val="15334A"/>
                </a:solidFill>
                <a:latin typeface="Arial"/>
              </a:rPr>
              <a:t>RESEARCHER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7920" y="5618480"/>
            <a:ext cx="1749552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557085"/>
                </a:solidFill>
                <a:latin typeface="Arial"/>
              </a:rPr>
              <a:t>Frames the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9440" y="5425440"/>
            <a:ext cx="719328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 b="1">
                <a:solidFill>
                  <a:srgbClr val="15334A"/>
                </a:solidFill>
                <a:latin typeface="Arial"/>
              </a:rPr>
              <a:t>AI LAB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89440" y="5618480"/>
            <a:ext cx="1591056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557085"/>
                </a:solidFill>
                <a:latin typeface="Arial"/>
              </a:rPr>
              <a:t>Surfaces patterns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105400"/>
            <a:ext cx="202692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000" b="1">
                <a:solidFill>
                  <a:srgbClr val="6E899D"/>
                </a:solidFill>
                <a:latin typeface="Arial"/>
              </a:rPr>
              <a:t>EDITABLE COLLABORATION LOOP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07664" y="5433060"/>
            <a:ext cx="824992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 b="1">
                <a:solidFill>
                  <a:srgbClr val="15334A"/>
                </a:solidFill>
                <a:latin typeface="Arial"/>
              </a:rPr>
              <a:t>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16630" y="5626100"/>
            <a:ext cx="607060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>
                <a:solidFill>
                  <a:srgbClr val="557085"/>
                </a:solidFill>
                <a:latin typeface="Arial"/>
              </a:rPr>
              <a:t>frame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19980" y="5433060"/>
            <a:ext cx="970280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 b="1">
                <a:solidFill>
                  <a:srgbClr val="15334A"/>
                </a:solidFill>
                <a:latin typeface="Arial"/>
              </a:rPr>
              <a:t>EXPERIMENT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01590" y="5626100"/>
            <a:ext cx="607060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>
                <a:solidFill>
                  <a:srgbClr val="557085"/>
                </a:solidFill>
                <a:latin typeface="Arial"/>
              </a:rPr>
              <a:t>probe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7584" y="5433060"/>
            <a:ext cx="824992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 b="1">
                <a:solidFill>
                  <a:srgbClr val="15334A"/>
                </a:solidFill>
                <a:latin typeface="Arial"/>
              </a:rPr>
              <a:t>JUDGMENT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50228" y="5626100"/>
            <a:ext cx="679704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>
                <a:solidFill>
                  <a:srgbClr val="8B6840"/>
                </a:solidFill>
                <a:latin typeface="Arial"/>
              </a:rPr>
              <a:t>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121400"/>
            <a:ext cx="546100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000">
                <a:solidFill>
                  <a:srgbClr val="7892A4"/>
                </a:solidFill>
                <a:latin typeface="Arial"/>
              </a:rPr>
              <a:t>Illustrative AI-generated base only • factual callouts remain editable overlays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1402080"/>
            <a:ext cx="10972800" cy="1"/>
          </a:xfrm>
          <a:custGeom>
            <a:avLst/>
            <a:gdLst/>
            <a:ahLst/>
            <a:cxnLst/>
            <a:rect l="0" t="0" r="r" b="b"/>
            <a:pathLst>
              <a:path w="10972800" h="1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25400">
            <a:solidFill>
              <a:srgbClr val="D9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422400" y="1828800"/>
            <a:ext cx="9753600" cy="0"/>
          </a:xfrm>
          <a:prstGeom prst="line">
            <a:avLst/>
          </a:prstGeom>
          <a:ln w="19050">
            <a:solidFill>
              <a:srgbClr val="D9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422400" y="2692400"/>
            <a:ext cx="9753600" cy="0"/>
          </a:xfrm>
          <a:prstGeom prst="line">
            <a:avLst/>
          </a:prstGeom>
          <a:ln w="19050">
            <a:solidFill>
              <a:srgbClr val="E7EE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422400" y="3556000"/>
            <a:ext cx="9753600" cy="0"/>
          </a:xfrm>
          <a:prstGeom prst="line">
            <a:avLst/>
          </a:prstGeom>
          <a:ln w="19050">
            <a:solidFill>
              <a:srgbClr val="E7EE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422400" y="4419600"/>
            <a:ext cx="9753600" cy="0"/>
          </a:xfrm>
          <a:prstGeom prst="line">
            <a:avLst/>
          </a:prstGeom>
          <a:ln w="19050">
            <a:solidFill>
              <a:srgbClr val="E7EE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22400" y="5283200"/>
            <a:ext cx="9753600" cy="0"/>
          </a:xfrm>
          <a:prstGeom prst="line">
            <a:avLst/>
          </a:prstGeom>
          <a:ln w="25400">
            <a:solidFill>
              <a:srgbClr val="B9CC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22400" y="1828800"/>
            <a:ext cx="0" cy="3454400"/>
          </a:xfrm>
          <a:prstGeom prst="line">
            <a:avLst/>
          </a:prstGeom>
          <a:ln w="25400">
            <a:solidFill>
              <a:srgbClr val="6B87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422400" y="5283200"/>
            <a:ext cx="9753600" cy="0"/>
          </a:xfrm>
          <a:prstGeom prst="line">
            <a:avLst/>
          </a:prstGeom>
          <a:ln w="25400">
            <a:solidFill>
              <a:srgbClr val="6B87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41120" y="1828800"/>
            <a:ext cx="81280" cy="0"/>
          </a:xfrm>
          <a:prstGeom prst="line">
            <a:avLst/>
          </a:prstGeom>
          <a:ln w="25400">
            <a:solidFill>
              <a:srgbClr val="6B87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341120" y="2692400"/>
            <a:ext cx="81280" cy="0"/>
          </a:xfrm>
          <a:prstGeom prst="line">
            <a:avLst/>
          </a:prstGeom>
          <a:ln w="25400">
            <a:solidFill>
              <a:srgbClr val="6B87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41120" y="3556000"/>
            <a:ext cx="81280" cy="0"/>
          </a:xfrm>
          <a:prstGeom prst="line">
            <a:avLst/>
          </a:prstGeom>
          <a:ln w="25400">
            <a:solidFill>
              <a:srgbClr val="6B87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41120" y="4419600"/>
            <a:ext cx="81280" cy="0"/>
          </a:xfrm>
          <a:prstGeom prst="line">
            <a:avLst/>
          </a:prstGeom>
          <a:ln w="25400">
            <a:solidFill>
              <a:srgbClr val="6B87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341120" y="5283200"/>
            <a:ext cx="81280" cy="0"/>
          </a:xfrm>
          <a:prstGeom prst="line">
            <a:avLst/>
          </a:prstGeom>
          <a:ln w="25400">
            <a:solidFill>
              <a:srgbClr val="6B87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397760" y="2792578"/>
            <a:ext cx="1137920" cy="2490622"/>
          </a:xfrm>
          <a:prstGeom prst="rect">
            <a:avLst/>
          </a:prstGeom>
          <a:solidFill>
            <a:srgbClr val="5B78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32960" y="2464410"/>
            <a:ext cx="1137920" cy="2818790"/>
          </a:xfrm>
          <a:prstGeom prst="rect">
            <a:avLst/>
          </a:prstGeom>
          <a:solidFill>
            <a:srgbClr val="6B9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68160" y="1884070"/>
            <a:ext cx="1137920" cy="3399130"/>
          </a:xfrm>
          <a:prstGeom prst="rect">
            <a:avLst/>
          </a:prstGeom>
          <a:solidFill>
            <a:srgbClr val="4F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03360" y="1828800"/>
            <a:ext cx="1137920" cy="3454400"/>
          </a:xfrm>
          <a:prstGeom prst="rect">
            <a:avLst/>
          </a:prstGeom>
          <a:solidFill>
            <a:srgbClr val="D29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24800" y="731520"/>
            <a:ext cx="142240" cy="142240"/>
          </a:xfrm>
          <a:prstGeom prst="rect">
            <a:avLst/>
          </a:prstGeom>
          <a:solidFill>
            <a:srgbClr val="5B78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01760" y="731520"/>
            <a:ext cx="142240" cy="142240"/>
          </a:xfrm>
          <a:prstGeom prst="rect">
            <a:avLst/>
          </a:prstGeom>
          <a:solidFill>
            <a:srgbClr val="4F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600" y="6339840"/>
            <a:ext cx="10972800" cy="1"/>
          </a:xfrm>
          <a:custGeom>
            <a:avLst/>
            <a:gdLst/>
            <a:ahLst/>
            <a:cxnLst/>
            <a:rect l="0" t="0" r="r" b="b"/>
            <a:pathLst>
              <a:path w="10972800" h="1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D9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388620"/>
            <a:ext cx="2218436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300" b="1">
                <a:solidFill>
                  <a:srgbClr val="5B7890"/>
                </a:solidFill>
                <a:latin typeface="Arial"/>
              </a:rPr>
              <a:t>DETERMINISTIC DATA 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24840"/>
            <a:ext cx="4008120" cy="3962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3000" b="1">
                <a:solidFill>
                  <a:srgbClr val="15334A"/>
                </a:solidFill>
                <a:latin typeface="Arial"/>
              </a:rPr>
              <a:t>Accuracy comparison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1033780"/>
            <a:ext cx="519684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500">
                <a:solidFill>
                  <a:srgbClr val="5B7890"/>
                </a:solidFill>
                <a:latin typeface="Arial"/>
              </a:rPr>
              <a:t>Four checkpoints rendered directly from data.json.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296" y="1788160"/>
            <a:ext cx="481584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200">
                <a:solidFill>
                  <a:srgbClr val="557085"/>
                </a:solidFill>
                <a:latin typeface="Arial"/>
              </a:rPr>
              <a:t>100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6544" y="2651760"/>
            <a:ext cx="402336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200">
                <a:solidFill>
                  <a:srgbClr val="557085"/>
                </a:solidFill>
                <a:latin typeface="Arial"/>
              </a:rPr>
              <a:t>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6544" y="3515360"/>
            <a:ext cx="402336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200">
                <a:solidFill>
                  <a:srgbClr val="557085"/>
                </a:solidFill>
                <a:latin typeface="Arial"/>
              </a:rPr>
              <a:t>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544" y="4378960"/>
            <a:ext cx="402336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200">
                <a:solidFill>
                  <a:srgbClr val="557085"/>
                </a:solidFill>
                <a:latin typeface="Arial"/>
              </a:rPr>
              <a:t>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5792" y="5242560"/>
            <a:ext cx="323088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200">
                <a:solidFill>
                  <a:srgbClr val="557085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2400" y="1541780"/>
            <a:ext cx="1115568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 b="1">
                <a:solidFill>
                  <a:srgbClr val="557085"/>
                </a:solidFill>
                <a:latin typeface="Arial"/>
              </a:rPr>
              <a:t>ACCURACY (%)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81040" y="5984240"/>
            <a:ext cx="1036320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200" b="1">
                <a:solidFill>
                  <a:srgbClr val="557085"/>
                </a:solidFill>
                <a:latin typeface="Arial"/>
              </a:rPr>
              <a:t>CHECKPOINT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97150" y="2506980"/>
            <a:ext cx="73914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 b="1">
                <a:solidFill>
                  <a:srgbClr val="15334A"/>
                </a:solidFill>
                <a:latin typeface="Arial"/>
              </a:rPr>
              <a:t>72.1%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32350" y="2181860"/>
            <a:ext cx="73914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 b="1">
                <a:solidFill>
                  <a:srgbClr val="15334A"/>
                </a:solidFill>
                <a:latin typeface="Arial"/>
              </a:rPr>
              <a:t>81.6%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67550" y="1602740"/>
            <a:ext cx="73914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 b="1">
                <a:solidFill>
                  <a:srgbClr val="15334A"/>
                </a:solidFill>
                <a:latin typeface="Arial"/>
              </a:rPr>
              <a:t>98.4%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53220" y="1551940"/>
            <a:ext cx="83820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 b="1">
                <a:solidFill>
                  <a:srgbClr val="15334A"/>
                </a:solidFill>
                <a:latin typeface="Arial"/>
              </a:rPr>
              <a:t>100.0%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82520" y="5481320"/>
            <a:ext cx="1168400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400" b="1">
                <a:solidFill>
                  <a:srgbClr val="15334A"/>
                </a:solidFill>
                <a:latin typeface="Arial"/>
              </a:rPr>
              <a:t>Baseline 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17720" y="5481320"/>
            <a:ext cx="1168400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400" b="1">
                <a:solidFill>
                  <a:srgbClr val="15334A"/>
                </a:solidFill>
                <a:latin typeface="Arial"/>
              </a:rPr>
              <a:t>Baseline 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99148" y="5481320"/>
            <a:ext cx="1075944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400" b="1">
                <a:solidFill>
                  <a:srgbClr val="15334A"/>
                </a:solidFill>
                <a:latin typeface="Arial"/>
              </a:rPr>
              <a:t>Current 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34348" y="5481320"/>
            <a:ext cx="1075944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400" b="1">
                <a:solidFill>
                  <a:srgbClr val="15334A"/>
                </a:solidFill>
                <a:latin typeface="Arial"/>
              </a:rPr>
              <a:t>Current 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58480" y="762000"/>
            <a:ext cx="877824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557085"/>
                </a:solidFill>
                <a:latin typeface="Arial"/>
              </a:rPr>
              <a:t>Baseline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762000"/>
            <a:ext cx="798576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557085"/>
                </a:solidFill>
                <a:latin typeface="Arial"/>
              </a:rPr>
              <a:t>Current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6510020"/>
            <a:ext cx="4457192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7892A4"/>
                </a:solidFill>
                <a:latin typeface="Arial"/>
              </a:rPr>
              <a:t>Source data: accuracy-comparison/data.json • unit: percent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