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1.png" /></ns0: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7680" y="1391920"/>
            <a:ext cx="11216640" cy="1"/>
          </a:xfrm>
          <a:custGeom>
            <a:avLst/>
            <a:gdLst/>
            <a:ahLst/>
            <a:cxnLst/>
            <a:rect l="0" t="0" r="r" b="b"/>
            <a:pathLst>
              <a:path w="11216640" h="1">
                <a:moveTo>
                  <a:pt x="0" y="0"/>
                </a:moveTo>
                <a:lnTo>
                  <a:pt x="11216640" y="0"/>
                </a:lnTo>
              </a:path>
            </a:pathLst>
          </a:custGeom>
          <a:noFill/>
          <a:ln w="25400">
            <a:solidFill>
              <a:srgbClr val="D9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97760" y="3556000"/>
            <a:ext cx="325120" cy="1"/>
          </a:xfrm>
          <a:custGeom>
            <a:avLst/>
            <a:gdLst/>
            <a:ahLst/>
            <a:cxnLst/>
            <a:rect l="0" t="0" r="r" b="b"/>
            <a:pathLst>
              <a:path w="325120" h="1">
                <a:moveTo>
                  <a:pt x="0" y="0"/>
                </a:moveTo>
                <a:lnTo>
                  <a:pt x="325120" y="0"/>
                </a:lnTo>
              </a:path>
            </a:pathLst>
          </a:custGeom>
          <a:noFill/>
          <a:ln w="31750">
            <a:solidFill>
              <a:srgbClr val="6B9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51760" y="3495040"/>
            <a:ext cx="91440" cy="121920"/>
          </a:xfrm>
          <a:custGeom>
            <a:avLst/>
            <a:gdLst/>
            <a:ahLst/>
            <a:cxnLst/>
            <a:rect l="0" t="0" r="r" b="b"/>
            <a:pathLst>
              <a:path w="91440" h="121920">
                <a:moveTo>
                  <a:pt x="0" y="0"/>
                </a:moveTo>
                <a:lnTo>
                  <a:pt x="91440" y="60960"/>
                </a:lnTo>
                <a:lnTo>
                  <a:pt x="0" y="121920"/>
                </a:lnTo>
              </a:path>
            </a:pathLst>
          </a:custGeom>
          <a:noFill/>
          <a:ln w="31750">
            <a:solidFill>
              <a:srgbClr val="6B9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14240" y="3556000"/>
            <a:ext cx="325120" cy="1"/>
          </a:xfrm>
          <a:custGeom>
            <a:avLst/>
            <a:gdLst/>
            <a:ahLst/>
            <a:cxnLst/>
            <a:rect l="0" t="0" r="r" b="b"/>
            <a:pathLst>
              <a:path w="325120" h="1">
                <a:moveTo>
                  <a:pt x="0" y="0"/>
                </a:moveTo>
                <a:lnTo>
                  <a:pt x="325120" y="0"/>
                </a:lnTo>
              </a:path>
            </a:pathLst>
          </a:custGeom>
          <a:noFill/>
          <a:ln w="31750">
            <a:solidFill>
              <a:srgbClr val="6B9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68240" y="3495040"/>
            <a:ext cx="91440" cy="121920"/>
          </a:xfrm>
          <a:custGeom>
            <a:avLst/>
            <a:gdLst/>
            <a:ahLst/>
            <a:cxnLst/>
            <a:rect l="0" t="0" r="r" b="b"/>
            <a:pathLst>
              <a:path w="91440" h="121920">
                <a:moveTo>
                  <a:pt x="0" y="0"/>
                </a:moveTo>
                <a:lnTo>
                  <a:pt x="91440" y="60960"/>
                </a:lnTo>
                <a:lnTo>
                  <a:pt x="0" y="121920"/>
                </a:lnTo>
              </a:path>
            </a:pathLst>
          </a:custGeom>
          <a:noFill/>
          <a:ln w="31750">
            <a:solidFill>
              <a:srgbClr val="6B9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30720" y="3556000"/>
            <a:ext cx="325120" cy="1"/>
          </a:xfrm>
          <a:custGeom>
            <a:avLst/>
            <a:gdLst/>
            <a:ahLst/>
            <a:cxnLst/>
            <a:rect l="0" t="0" r="r" b="b"/>
            <a:pathLst>
              <a:path w="325120" h="1">
                <a:moveTo>
                  <a:pt x="0" y="0"/>
                </a:moveTo>
                <a:lnTo>
                  <a:pt x="325120" y="0"/>
                </a:lnTo>
              </a:path>
            </a:pathLst>
          </a:custGeom>
          <a:noFill/>
          <a:ln w="31750">
            <a:solidFill>
              <a:srgbClr val="6B9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84720" y="3495040"/>
            <a:ext cx="91440" cy="121920"/>
          </a:xfrm>
          <a:custGeom>
            <a:avLst/>
            <a:gdLst/>
            <a:ahLst/>
            <a:cxnLst/>
            <a:rect l="0" t="0" r="r" b="b"/>
            <a:pathLst>
              <a:path w="91440" h="121920">
                <a:moveTo>
                  <a:pt x="0" y="0"/>
                </a:moveTo>
                <a:lnTo>
                  <a:pt x="91440" y="60960"/>
                </a:lnTo>
                <a:lnTo>
                  <a:pt x="0" y="121920"/>
                </a:lnTo>
              </a:path>
            </a:pathLst>
          </a:custGeom>
          <a:noFill/>
          <a:ln w="31750">
            <a:solidFill>
              <a:srgbClr val="6B9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47200" y="3556000"/>
            <a:ext cx="325120" cy="1"/>
          </a:xfrm>
          <a:custGeom>
            <a:avLst/>
            <a:gdLst/>
            <a:ahLst/>
            <a:cxnLst/>
            <a:rect l="0" t="0" r="r" b="b"/>
            <a:pathLst>
              <a:path w="325120" h="1">
                <a:moveTo>
                  <a:pt x="0" y="0"/>
                </a:moveTo>
                <a:lnTo>
                  <a:pt x="325120" y="0"/>
                </a:lnTo>
              </a:path>
            </a:pathLst>
          </a:custGeom>
          <a:noFill/>
          <a:ln w="31750">
            <a:solidFill>
              <a:srgbClr val="6B9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0" y="3495040"/>
            <a:ext cx="91440" cy="121920"/>
          </a:xfrm>
          <a:custGeom>
            <a:avLst/>
            <a:gdLst/>
            <a:ahLst/>
            <a:cxnLst/>
            <a:rect l="0" t="0" r="r" b="b"/>
            <a:pathLst>
              <a:path w="91440" h="121920">
                <a:moveTo>
                  <a:pt x="0" y="0"/>
                </a:moveTo>
                <a:lnTo>
                  <a:pt x="91440" y="60960"/>
                </a:lnTo>
                <a:lnTo>
                  <a:pt x="0" y="121920"/>
                </a:lnTo>
              </a:path>
            </a:pathLst>
          </a:custGeom>
          <a:noFill/>
          <a:ln w="31750">
            <a:solidFill>
              <a:srgbClr val="6B9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7680" y="2103120"/>
            <a:ext cx="1910080" cy="304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325120" bIns="0"/>
          <a:lstStyle/>
          <a:p>
            <a:pPr algn="ctr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899D"/>
                </a:solidFill>
                <a:latin typeface="Arial"/>
              </a:rPr>
              <a:t>01</a:t>
            </a:r>
          </a:p>
          <a:p>
            <a:pPr algn="ctr">
              <a:lnSpc>
                <a:spcPts val="1728"/>
              </a:lnSpc>
              <a:spcBef>
                <a:spcPts val="7328"/>
              </a:spcBef>
              <a:spcAft>
                <a:spcPts val="0"/>
              </a:spcAft>
            </a:pPr>
            <a:r>
              <a:rPr sz="1800" b="1">
                <a:solidFill>
                  <a:srgbClr val="15334A"/>
                </a:solidFill>
                <a:latin typeface="Arial"/>
              </a:rPr>
              <a:t>Data sources</a:t>
            </a:r>
          </a:p>
          <a:p>
            <a:pPr algn="ctr">
              <a:lnSpc>
                <a:spcPts val="1344"/>
              </a:lnSpc>
              <a:spcBef>
                <a:spcPts val="1712"/>
              </a:spcBef>
              <a:spcAft>
                <a:spcPts val="0"/>
              </a:spcAft>
            </a:pPr>
            <a:r>
              <a:rPr sz="1400">
                <a:solidFill>
                  <a:srgbClr val="557085"/>
                </a:solidFill>
                <a:latin typeface="Arial"/>
              </a:rPr>
              <a:t>Raw inputs &amp;</a:t>
            </a:r>
          </a:p>
          <a:p>
            <a:pPr algn="ctr">
              <a:lnSpc>
                <a:spcPts val="1344"/>
              </a:lnSpc>
              <a:spcBef>
                <a:spcPts val="336"/>
              </a:spcBef>
              <a:spcAft>
                <a:spcPts val="0"/>
              </a:spcAft>
            </a:pPr>
            <a:r>
              <a:rPr sz="1400">
                <a:solidFill>
                  <a:srgbClr val="557085"/>
                </a:solidFill>
                <a:latin typeface="Arial"/>
              </a:rPr>
              <a:t>metadata</a:t>
            </a:r>
          </a:p>
          <a:p>
            <a:pPr algn="ctr">
              <a:lnSpc>
                <a:spcPts val="960"/>
              </a:lnSpc>
              <a:spcBef>
                <a:spcPts val="3456"/>
              </a:spcBef>
              <a:spcAft>
                <a:spcPts val="0"/>
              </a:spcAft>
            </a:pPr>
            <a:r>
              <a:rPr sz="1000" b="1">
                <a:solidFill>
                  <a:srgbClr val="7892A4"/>
                </a:solidFill>
                <a:latin typeface="Arial"/>
              </a:rPr>
              <a:t>OUTPUT</a:t>
            </a:r>
          </a:p>
          <a:p>
            <a:pPr algn="r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86A3"/>
                </a:solidFill>
                <a:latin typeface="Arial"/>
              </a:rPr>
              <a:t>DATASET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80" y="2103120"/>
            <a:ext cx="1910080" cy="71120"/>
          </a:xfrm>
          <a:prstGeom prst="rect">
            <a:avLst/>
          </a:prstGeom>
          <a:solidFill>
            <a:srgbClr val="4F8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1200" y="2672080"/>
            <a:ext cx="508000" cy="508000"/>
          </a:xfrm>
          <a:prstGeom prst="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2794000"/>
            <a:ext cx="284480" cy="223520"/>
          </a:xfrm>
          <a:custGeom>
            <a:avLst/>
            <a:gdLst/>
            <a:ahLst/>
            <a:cxnLst/>
            <a:rect l="0" t="0" r="r" b="b"/>
            <a:pathLst>
              <a:path w="284480" h="223520">
                <a:moveTo>
                  <a:pt x="0" y="0"/>
                </a:moveTo>
                <a:lnTo>
                  <a:pt x="284480" y="0"/>
                </a:lnTo>
                <a:moveTo>
                  <a:pt x="0" y="111760"/>
                </a:moveTo>
                <a:lnTo>
                  <a:pt x="284480" y="111760"/>
                </a:lnTo>
                <a:moveTo>
                  <a:pt x="0" y="223520"/>
                </a:moveTo>
                <a:lnTo>
                  <a:pt x="193040" y="223520"/>
                </a:lnTo>
              </a:path>
            </a:pathLst>
          </a:custGeom>
          <a:noFill/>
          <a:ln w="38100">
            <a:solidFill>
              <a:srgbClr val="4F8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1200" y="4561840"/>
            <a:ext cx="1463040" cy="1"/>
          </a:xfrm>
          <a:custGeom>
            <a:avLst/>
            <a:gdLst/>
            <a:ahLst/>
            <a:cxnLst/>
            <a:rect l="0" t="0" r="r" b="b"/>
            <a:pathLst>
              <a:path w="1463040" h="1">
                <a:moveTo>
                  <a:pt x="0" y="0"/>
                </a:moveTo>
                <a:lnTo>
                  <a:pt x="1463040" y="0"/>
                </a:lnTo>
              </a:path>
            </a:pathLst>
          </a:custGeom>
          <a:noFill/>
          <a:ln w="19050">
            <a:solidFill>
              <a:srgbClr val="E2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04160" y="2103120"/>
            <a:ext cx="1910080" cy="304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325120" bIns="0"/>
          <a:lstStyle/>
          <a:p>
            <a:pPr algn="ctr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899D"/>
                </a:solidFill>
                <a:latin typeface="Arial"/>
              </a:rPr>
              <a:t>02</a:t>
            </a:r>
          </a:p>
          <a:p>
            <a:pPr algn="ctr">
              <a:lnSpc>
                <a:spcPts val="1632"/>
              </a:lnSpc>
              <a:spcBef>
                <a:spcPts val="6928"/>
              </a:spcBef>
              <a:spcAft>
                <a:spcPts val="0"/>
              </a:spcAft>
            </a:pPr>
            <a:r>
              <a:rPr sz="1700" b="1">
                <a:solidFill>
                  <a:srgbClr val="15334A"/>
                </a:solidFill>
                <a:latin typeface="Arial"/>
              </a:rPr>
              <a:t>Feature</a:t>
            </a:r>
          </a:p>
          <a:p>
            <a:pPr algn="ctr">
              <a:lnSpc>
                <a:spcPts val="1632"/>
              </a:lnSpc>
              <a:spcBef>
                <a:spcPts val="128"/>
              </a:spcBef>
              <a:spcAft>
                <a:spcPts val="0"/>
              </a:spcAft>
            </a:pPr>
            <a:r>
              <a:rPr sz="1700" b="1">
                <a:solidFill>
                  <a:srgbClr val="15334A"/>
                </a:solidFill>
                <a:latin typeface="Arial"/>
              </a:rPr>
              <a:t>processing</a:t>
            </a:r>
          </a:p>
          <a:p>
            <a:pPr algn="ctr">
              <a:lnSpc>
                <a:spcPts val="1344"/>
              </a:lnSpc>
              <a:spcBef>
                <a:spcPts val="1568"/>
              </a:spcBef>
              <a:spcAft>
                <a:spcPts val="0"/>
              </a:spcAft>
            </a:pPr>
            <a:r>
              <a:rPr sz="1400">
                <a:solidFill>
                  <a:srgbClr val="557085"/>
                </a:solidFill>
                <a:latin typeface="Arial"/>
              </a:rPr>
              <a:t>Normalize, encode</a:t>
            </a:r>
          </a:p>
          <a:p>
            <a:pPr algn="ctr">
              <a:lnSpc>
                <a:spcPts val="1344"/>
              </a:lnSpc>
              <a:spcBef>
                <a:spcPts val="336"/>
              </a:spcBef>
              <a:spcAft>
                <a:spcPts val="0"/>
              </a:spcAft>
            </a:pPr>
            <a:r>
              <a:rPr sz="1400">
                <a:solidFill>
                  <a:srgbClr val="557085"/>
                </a:solidFill>
                <a:latin typeface="Arial"/>
              </a:rPr>
              <a:t>and split</a:t>
            </a:r>
          </a:p>
          <a:p>
            <a:pPr algn="ctr">
              <a:lnSpc>
                <a:spcPts val="960"/>
              </a:lnSpc>
              <a:spcBef>
                <a:spcPts val="2336"/>
              </a:spcBef>
              <a:spcAft>
                <a:spcPts val="0"/>
              </a:spcAft>
            </a:pPr>
            <a:r>
              <a:rPr sz="1000" b="1">
                <a:solidFill>
                  <a:srgbClr val="7892A4"/>
                </a:solidFill>
                <a:latin typeface="Arial"/>
              </a:rPr>
              <a:t>OUTPUT</a:t>
            </a:r>
          </a:p>
          <a:p>
            <a:pPr algn="r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9A9A"/>
                </a:solidFill>
                <a:latin typeface="Arial"/>
              </a:rPr>
              <a:t>FEATURE 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04160" y="2103120"/>
            <a:ext cx="1910080" cy="71120"/>
          </a:xfrm>
          <a:prstGeom prst="rect">
            <a:avLst/>
          </a:prstGeom>
          <a:solidFill>
            <a:srgbClr val="4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27680" y="2672080"/>
            <a:ext cx="508000" cy="508000"/>
          </a:xfrm>
          <a:prstGeom prst="rect">
            <a:avLst/>
          </a:prstGeom>
          <a:solidFill>
            <a:srgbClr val="EE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39440" y="2733040"/>
            <a:ext cx="284480" cy="365760"/>
          </a:xfrm>
          <a:custGeom>
            <a:avLst/>
            <a:gdLst/>
            <a:ahLst/>
            <a:cxnLst/>
            <a:rect l="0" t="0" r="r" b="b"/>
            <a:pathLst>
              <a:path w="284480" h="365760">
                <a:moveTo>
                  <a:pt x="0" y="50800"/>
                </a:moveTo>
                <a:lnTo>
                  <a:pt x="284480" y="50800"/>
                </a:lnTo>
                <a:moveTo>
                  <a:pt x="0" y="182880"/>
                </a:moveTo>
                <a:lnTo>
                  <a:pt x="284480" y="182880"/>
                </a:lnTo>
                <a:moveTo>
                  <a:pt x="0" y="314960"/>
                </a:moveTo>
                <a:lnTo>
                  <a:pt x="284480" y="314960"/>
                </a:lnTo>
                <a:moveTo>
                  <a:pt x="111760" y="0"/>
                </a:moveTo>
                <a:lnTo>
                  <a:pt x="111760" y="101600"/>
                </a:lnTo>
                <a:moveTo>
                  <a:pt x="233680" y="132080"/>
                </a:moveTo>
                <a:lnTo>
                  <a:pt x="233680" y="233680"/>
                </a:lnTo>
                <a:moveTo>
                  <a:pt x="60960" y="264160"/>
                </a:moveTo>
                <a:lnTo>
                  <a:pt x="60960" y="365760"/>
                </a:lnTo>
              </a:path>
            </a:pathLst>
          </a:custGeom>
          <a:noFill/>
          <a:ln w="31750">
            <a:solidFill>
              <a:srgbClr val="4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27680" y="4561840"/>
            <a:ext cx="1463040" cy="1"/>
          </a:xfrm>
          <a:custGeom>
            <a:avLst/>
            <a:gdLst/>
            <a:ahLst/>
            <a:cxnLst/>
            <a:rect l="0" t="0" r="r" b="b"/>
            <a:pathLst>
              <a:path w="1463040" h="1">
                <a:moveTo>
                  <a:pt x="0" y="0"/>
                </a:moveTo>
                <a:lnTo>
                  <a:pt x="1463040" y="0"/>
                </a:lnTo>
              </a:path>
            </a:pathLst>
          </a:custGeom>
          <a:noFill/>
          <a:ln w="19050">
            <a:solidFill>
              <a:srgbClr val="E2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20640" y="2103120"/>
            <a:ext cx="1910080" cy="304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325120" bIns="0"/>
          <a:lstStyle/>
          <a:p>
            <a:pPr algn="ctr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899D"/>
                </a:solidFill>
                <a:latin typeface="Arial"/>
              </a:rPr>
              <a:t>03</a:t>
            </a:r>
          </a:p>
          <a:p>
            <a:pPr algn="ctr">
              <a:lnSpc>
                <a:spcPts val="1728"/>
              </a:lnSpc>
              <a:spcBef>
                <a:spcPts val="7328"/>
              </a:spcBef>
              <a:spcAft>
                <a:spcPts val="0"/>
              </a:spcAft>
            </a:pPr>
            <a:r>
              <a:rPr sz="1800" b="1">
                <a:solidFill>
                  <a:srgbClr val="15334A"/>
                </a:solidFill>
                <a:latin typeface="Arial"/>
              </a:rPr>
              <a:t>Model training</a:t>
            </a:r>
          </a:p>
          <a:p>
            <a:pPr algn="ctr">
              <a:lnSpc>
                <a:spcPts val="1344"/>
              </a:lnSpc>
              <a:spcBef>
                <a:spcPts val="1712"/>
              </a:spcBef>
              <a:spcAft>
                <a:spcPts val="0"/>
              </a:spcAft>
            </a:pPr>
            <a:r>
              <a:rPr sz="1400">
                <a:solidFill>
                  <a:srgbClr val="557085"/>
                </a:solidFill>
                <a:latin typeface="Arial"/>
              </a:rPr>
              <a:t>Fit model</a:t>
            </a:r>
          </a:p>
          <a:p>
            <a:pPr algn="ctr">
              <a:lnSpc>
                <a:spcPts val="1344"/>
              </a:lnSpc>
              <a:spcBef>
                <a:spcPts val="336"/>
              </a:spcBef>
              <a:spcAft>
                <a:spcPts val="0"/>
              </a:spcAft>
            </a:pPr>
            <a:r>
              <a:rPr sz="1400">
                <a:solidFill>
                  <a:srgbClr val="557085"/>
                </a:solidFill>
                <a:latin typeface="Arial"/>
              </a:rPr>
              <a:t>parameters</a:t>
            </a:r>
          </a:p>
          <a:p>
            <a:pPr algn="ctr">
              <a:lnSpc>
                <a:spcPts val="960"/>
              </a:lnSpc>
              <a:spcBef>
                <a:spcPts val="3456"/>
              </a:spcBef>
              <a:spcAft>
                <a:spcPts val="0"/>
              </a:spcAft>
            </a:pPr>
            <a:r>
              <a:rPr sz="1000" b="1">
                <a:solidFill>
                  <a:srgbClr val="7892A4"/>
                </a:solidFill>
                <a:latin typeface="Arial"/>
              </a:rPr>
              <a:t>OUTPUT</a:t>
            </a:r>
          </a:p>
          <a:p>
            <a:pPr algn="r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C78B7"/>
                </a:solidFill>
                <a:latin typeface="Arial"/>
              </a:rPr>
              <a:t>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2103120"/>
            <a:ext cx="1910080" cy="71120"/>
          </a:xfrm>
          <a:prstGeom prst="rect">
            <a:avLst/>
          </a:prstGeom>
          <a:solidFill>
            <a:srgbClr val="6C7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4160" y="2672080"/>
            <a:ext cx="508000" cy="508000"/>
          </a:xfrm>
          <a:prstGeom prst="rect">
            <a:avLst/>
          </a:prstGeom>
          <a:solidFill>
            <a:srgbClr val="F0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55920" y="2783840"/>
            <a:ext cx="284480" cy="274320"/>
          </a:xfrm>
          <a:custGeom>
            <a:avLst/>
            <a:gdLst/>
            <a:ahLst/>
            <a:cxnLst/>
            <a:rect l="0" t="0" r="r" b="b"/>
            <a:pathLst>
              <a:path w="284480" h="274320">
                <a:moveTo>
                  <a:pt x="0" y="274320"/>
                </a:moveTo>
                <a:lnTo>
                  <a:pt x="0" y="0"/>
                </a:lnTo>
                <a:moveTo>
                  <a:pt x="0" y="274320"/>
                </a:moveTo>
                <a:lnTo>
                  <a:pt x="284480" y="274320"/>
                </a:lnTo>
                <a:moveTo>
                  <a:pt x="40640" y="203200"/>
                </a:moveTo>
                <a:lnTo>
                  <a:pt x="111760" y="132080"/>
                </a:lnTo>
                <a:lnTo>
                  <a:pt x="182880" y="162560"/>
                </a:lnTo>
                <a:lnTo>
                  <a:pt x="264160" y="30480"/>
                </a:lnTo>
              </a:path>
            </a:pathLst>
          </a:custGeom>
          <a:noFill/>
          <a:ln w="35560">
            <a:solidFill>
              <a:srgbClr val="6C78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4160" y="4561840"/>
            <a:ext cx="1463040" cy="1"/>
          </a:xfrm>
          <a:custGeom>
            <a:avLst/>
            <a:gdLst/>
            <a:ahLst/>
            <a:cxnLst/>
            <a:rect l="0" t="0" r="r" b="b"/>
            <a:pathLst>
              <a:path w="1463040" h="1">
                <a:moveTo>
                  <a:pt x="0" y="0"/>
                </a:moveTo>
                <a:lnTo>
                  <a:pt x="1463040" y="0"/>
                </a:lnTo>
              </a:path>
            </a:pathLst>
          </a:custGeom>
          <a:noFill/>
          <a:ln w="19050">
            <a:solidFill>
              <a:srgbClr val="E2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37120" y="2103120"/>
            <a:ext cx="1910080" cy="304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325120" bIns="0"/>
          <a:lstStyle/>
          <a:p>
            <a:pPr algn="ctr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899D"/>
                </a:solidFill>
                <a:latin typeface="Arial"/>
              </a:rPr>
              <a:t>04</a:t>
            </a:r>
          </a:p>
          <a:p>
            <a:pPr algn="ctr">
              <a:lnSpc>
                <a:spcPts val="1632"/>
              </a:lnSpc>
              <a:spcBef>
                <a:spcPts val="6928"/>
              </a:spcBef>
              <a:spcAft>
                <a:spcPts val="0"/>
              </a:spcAft>
            </a:pPr>
            <a:r>
              <a:rPr sz="1700" b="1">
                <a:solidFill>
                  <a:srgbClr val="15334A"/>
                </a:solidFill>
                <a:latin typeface="Arial"/>
              </a:rPr>
              <a:t>Evaluation</a:t>
            </a:r>
          </a:p>
          <a:p>
            <a:pPr algn="ctr">
              <a:lnSpc>
                <a:spcPts val="1632"/>
              </a:lnSpc>
              <a:spcBef>
                <a:spcPts val="128"/>
              </a:spcBef>
              <a:spcAft>
                <a:spcPts val="0"/>
              </a:spcAft>
            </a:pPr>
            <a:r>
              <a:rPr sz="1700" b="1">
                <a:solidFill>
                  <a:srgbClr val="15334A"/>
                </a:solidFill>
                <a:latin typeface="Arial"/>
              </a:rPr>
              <a:t>stage</a:t>
            </a:r>
          </a:p>
          <a:p>
            <a:pPr algn="ctr">
              <a:lnSpc>
                <a:spcPts val="1344"/>
              </a:lnSpc>
              <a:spcBef>
                <a:spcPts val="1568"/>
              </a:spcBef>
              <a:spcAft>
                <a:spcPts val="0"/>
              </a:spcAft>
            </a:pPr>
            <a:r>
              <a:rPr sz="1400">
                <a:solidFill>
                  <a:srgbClr val="557085"/>
                </a:solidFill>
                <a:latin typeface="Arial"/>
              </a:rPr>
              <a:t>Holdout</a:t>
            </a:r>
          </a:p>
          <a:p>
            <a:pPr algn="ctr">
              <a:lnSpc>
                <a:spcPts val="1344"/>
              </a:lnSpc>
              <a:spcBef>
                <a:spcPts val="336"/>
              </a:spcBef>
              <a:spcAft>
                <a:spcPts val="0"/>
              </a:spcAft>
            </a:pPr>
            <a:r>
              <a:rPr sz="1400">
                <a:solidFill>
                  <a:srgbClr val="557085"/>
                </a:solidFill>
                <a:latin typeface="Arial"/>
              </a:rPr>
              <a:t>metrics</a:t>
            </a:r>
          </a:p>
          <a:p>
            <a:pPr algn="ctr">
              <a:lnSpc>
                <a:spcPts val="960"/>
              </a:lnSpc>
              <a:spcBef>
                <a:spcPts val="2336"/>
              </a:spcBef>
              <a:spcAft>
                <a:spcPts val="0"/>
              </a:spcAft>
            </a:pPr>
            <a:r>
              <a:rPr sz="1000" b="1">
                <a:solidFill>
                  <a:srgbClr val="7892A4"/>
                </a:solidFill>
                <a:latin typeface="Arial"/>
              </a:rPr>
              <a:t>OUTPUT</a:t>
            </a:r>
          </a:p>
          <a:p>
            <a:pPr algn="r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18A4A"/>
                </a:solidFill>
                <a:latin typeface="Arial"/>
              </a:rPr>
              <a:t>METRICS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37120" y="2103120"/>
            <a:ext cx="1910080" cy="71120"/>
          </a:xfrm>
          <a:prstGeom prst="rect">
            <a:avLst/>
          </a:prstGeom>
          <a:solidFill>
            <a:srgbClr val="C1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60640" y="2672080"/>
            <a:ext cx="508000" cy="508000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2783840"/>
            <a:ext cx="284480" cy="274320"/>
          </a:xfrm>
          <a:custGeom>
            <a:avLst/>
            <a:gdLst/>
            <a:ahLst/>
            <a:cxnLst/>
            <a:rect l="0" t="0" r="r" b="b"/>
            <a:pathLst>
              <a:path w="284480" h="274320">
                <a:moveTo>
                  <a:pt x="0" y="274320"/>
                </a:moveTo>
                <a:lnTo>
                  <a:pt x="0" y="0"/>
                </a:lnTo>
                <a:moveTo>
                  <a:pt x="0" y="274320"/>
                </a:moveTo>
                <a:lnTo>
                  <a:pt x="284480" y="274320"/>
                </a:lnTo>
                <a:moveTo>
                  <a:pt x="50800" y="172720"/>
                </a:moveTo>
                <a:lnTo>
                  <a:pt x="121920" y="101600"/>
                </a:lnTo>
                <a:lnTo>
                  <a:pt x="193040" y="142240"/>
                </a:lnTo>
                <a:lnTo>
                  <a:pt x="274320" y="30480"/>
                </a:lnTo>
              </a:path>
            </a:pathLst>
          </a:custGeom>
          <a:noFill/>
          <a:ln w="35560">
            <a:solidFill>
              <a:srgbClr val="C1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60640" y="4561840"/>
            <a:ext cx="1463040" cy="1"/>
          </a:xfrm>
          <a:custGeom>
            <a:avLst/>
            <a:gdLst/>
            <a:ahLst/>
            <a:cxnLst/>
            <a:rect l="0" t="0" r="r" b="b"/>
            <a:pathLst>
              <a:path w="1463040" h="1">
                <a:moveTo>
                  <a:pt x="0" y="0"/>
                </a:moveTo>
                <a:lnTo>
                  <a:pt x="1463040" y="0"/>
                </a:lnTo>
              </a:path>
            </a:pathLst>
          </a:custGeom>
          <a:noFill/>
          <a:ln w="19050">
            <a:solidFill>
              <a:srgbClr val="E2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38720" y="1534160"/>
            <a:ext cx="1808480" cy="426720"/>
          </a:xfrm>
          <a:prstGeom prst="rect">
            <a:avLst/>
          </a:prstGeom>
          <a:solidFill>
            <a:srgbClr val="FFF8EF"/>
          </a:solidFill>
          <a:ln w="25400">
            <a:solidFill>
              <a:srgbClr val="C1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39700" bIns="0"/>
          <a:lstStyle/>
          <a:p>
            <a:pPr algn="ctr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5334A"/>
                </a:solidFill>
                <a:latin typeface="Arial"/>
              </a:rPr>
              <a:t>HUMAN REVIEW</a:t>
            </a:r>
          </a:p>
          <a:p>
            <a:pPr algn="ctr">
              <a:lnSpc>
                <a:spcPts val="960"/>
              </a:lnSpc>
              <a:spcBef>
                <a:spcPts val="224"/>
              </a:spcBef>
              <a:spcAft>
                <a:spcPts val="0"/>
              </a:spcAft>
            </a:pPr>
            <a:r>
              <a:rPr sz="1000">
                <a:solidFill>
                  <a:srgbClr val="8B6840"/>
                </a:solidFill>
                <a:latin typeface="Arial"/>
              </a:rPr>
              <a:t>Approve or return</a:t>
            </a:r>
          </a:p>
        </p:txBody>
      </p:sp>
      <p:sp>
        <p:nvSpPr>
          <p:cNvPr id="33" name="Oval 32"/>
          <p:cNvSpPr/>
          <p:nvPr/>
        </p:nvSpPr>
        <p:spPr>
          <a:xfrm>
            <a:off x="7630160" y="1656080"/>
            <a:ext cx="182880" cy="182880"/>
          </a:xfrm>
          <a:prstGeom prst="ellipse">
            <a:avLst/>
          </a:prstGeom>
          <a:solidFill>
            <a:srgbClr val="C1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60640" y="1696720"/>
            <a:ext cx="121920" cy="132080"/>
          </a:xfrm>
          <a:custGeom>
            <a:avLst/>
            <a:gdLst/>
            <a:ahLst/>
            <a:cxnLst/>
            <a:rect l="0" t="0" r="r" b="b"/>
            <a:pathLst>
              <a:path w="121920" h="132080">
                <a:moveTo>
                  <a:pt x="20320" y="40640"/>
                </a:moveTo>
                <a:cubicBezTo>
                  <a:pt x="20320" y="18195"/>
                  <a:pt x="38515" y="0"/>
                  <a:pt x="60960" y="0"/>
                </a:cubicBezTo>
                <a:cubicBezTo>
                  <a:pt x="83405" y="0"/>
                  <a:pt x="101600" y="18195"/>
                  <a:pt x="101600" y="40640"/>
                </a:cubicBezTo>
                <a:moveTo>
                  <a:pt x="0" y="132080"/>
                </a:moveTo>
                <a:cubicBezTo>
                  <a:pt x="20320" y="91440"/>
                  <a:pt x="101600" y="91440"/>
                  <a:pt x="121920" y="132080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92160" y="1971040"/>
            <a:ext cx="1" cy="132080"/>
          </a:xfrm>
          <a:custGeom>
            <a:avLst/>
            <a:gdLst/>
            <a:ahLst/>
            <a:cxnLst/>
            <a:rect l="0" t="0" r="r" b="b"/>
            <a:pathLst>
              <a:path w="1" h="132080">
                <a:moveTo>
                  <a:pt x="0" y="132080"/>
                </a:moveTo>
                <a:lnTo>
                  <a:pt x="0" y="0"/>
                </a:lnTo>
              </a:path>
            </a:pathLst>
          </a:custGeom>
          <a:noFill/>
          <a:ln w="31750">
            <a:solidFill>
              <a:srgbClr val="C1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31200" y="1940560"/>
            <a:ext cx="121920" cy="91440"/>
          </a:xfrm>
          <a:custGeom>
            <a:avLst/>
            <a:gdLst/>
            <a:ahLst/>
            <a:cxnLst/>
            <a:rect l="0" t="0" r="r" b="b"/>
            <a:pathLst>
              <a:path w="121920" h="91440">
                <a:moveTo>
                  <a:pt x="0" y="91440"/>
                </a:moveTo>
                <a:lnTo>
                  <a:pt x="60960" y="0"/>
                </a:lnTo>
                <a:lnTo>
                  <a:pt x="121920" y="91440"/>
                </a:lnTo>
              </a:path>
            </a:pathLst>
          </a:custGeom>
          <a:noFill/>
          <a:ln w="31750">
            <a:solidFill>
              <a:srgbClr val="C1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>
            <a:stCxn id="32" idx="3"/>
          </p:cNvCxnSpPr>
          <p:nvPr/>
        </p:nvCxnSpPr>
        <p:spPr>
          <a:xfrm>
            <a:off x="9347200" y="1747520"/>
            <a:ext cx="243840" cy="0"/>
          </a:xfrm>
          <a:prstGeom prst="line">
            <a:avLst/>
          </a:prstGeom>
          <a:ln w="31750">
            <a:solidFill>
              <a:srgbClr val="577E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91040" y="1747520"/>
            <a:ext cx="81280" cy="1808480"/>
          </a:xfrm>
          <a:custGeom>
            <a:avLst/>
            <a:gdLst/>
            <a:ahLst/>
            <a:cxnLst/>
            <a:rect l="0" t="0" r="r" b="b"/>
            <a:pathLst>
              <a:path w="81280" h="1808480">
                <a:moveTo>
                  <a:pt x="0" y="0"/>
                </a:moveTo>
                <a:lnTo>
                  <a:pt x="0" y="1808480"/>
                </a:lnTo>
                <a:lnTo>
                  <a:pt x="81280" y="1808480"/>
                </a:lnTo>
              </a:path>
            </a:pathLst>
          </a:custGeom>
          <a:noFill/>
          <a:ln w="31750">
            <a:solidFill>
              <a:srgbClr val="577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01200" y="3495040"/>
            <a:ext cx="91440" cy="121920"/>
          </a:xfrm>
          <a:custGeom>
            <a:avLst/>
            <a:gdLst/>
            <a:ahLst/>
            <a:cxnLst/>
            <a:rect l="0" t="0" r="r" b="b"/>
            <a:pathLst>
              <a:path w="91440" h="121920">
                <a:moveTo>
                  <a:pt x="0" y="0"/>
                </a:moveTo>
                <a:lnTo>
                  <a:pt x="91440" y="60960"/>
                </a:lnTo>
                <a:lnTo>
                  <a:pt x="0" y="121920"/>
                </a:lnTo>
              </a:path>
            </a:pathLst>
          </a:custGeom>
          <a:noFill/>
          <a:ln w="31750">
            <a:solidFill>
              <a:srgbClr val="577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96000" y="1747520"/>
            <a:ext cx="1442720" cy="355600"/>
          </a:xfrm>
          <a:custGeom>
            <a:avLst/>
            <a:gdLst/>
            <a:ahLst/>
            <a:cxnLst/>
            <a:rect l="0" t="0" r="r" b="b"/>
            <a:pathLst>
              <a:path w="1442720" h="355600">
                <a:moveTo>
                  <a:pt x="1442720" y="0"/>
                </a:moveTo>
                <a:lnTo>
                  <a:pt x="1056640" y="0"/>
                </a:lnTo>
                <a:lnTo>
                  <a:pt x="1056640" y="121920"/>
                </a:lnTo>
                <a:lnTo>
                  <a:pt x="0" y="121920"/>
                </a:lnTo>
                <a:lnTo>
                  <a:pt x="0" y="355600"/>
                </a:lnTo>
              </a:path>
            </a:pathLst>
          </a:custGeom>
          <a:noFill/>
          <a:ln w="31750">
            <a:solidFill>
              <a:srgbClr val="B75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011680"/>
            <a:ext cx="121920" cy="91440"/>
          </a:xfrm>
          <a:custGeom>
            <a:avLst/>
            <a:gdLst/>
            <a:ahLst/>
            <a:cxnLst/>
            <a:rect l="0" t="0" r="r" b="b"/>
            <a:pathLst>
              <a:path w="121920" h="91440">
                <a:moveTo>
                  <a:pt x="0" y="0"/>
                </a:moveTo>
                <a:lnTo>
                  <a:pt x="60960" y="91440"/>
                </a:lnTo>
                <a:lnTo>
                  <a:pt x="121920" y="0"/>
                </a:lnTo>
              </a:path>
            </a:pathLst>
          </a:custGeom>
          <a:noFill/>
          <a:ln w="31750">
            <a:solidFill>
              <a:srgbClr val="B75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753600" y="2103120"/>
            <a:ext cx="1950720" cy="304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325120" bIns="0"/>
          <a:lstStyle/>
          <a:p>
            <a:pPr algn="ctr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899D"/>
                </a:solidFill>
                <a:latin typeface="Arial"/>
              </a:rPr>
              <a:t>05</a:t>
            </a:r>
          </a:p>
          <a:p>
            <a:pPr algn="ctr">
              <a:lnSpc>
                <a:spcPts val="1728"/>
              </a:lnSpc>
              <a:spcBef>
                <a:spcPts val="7328"/>
              </a:spcBef>
              <a:spcAft>
                <a:spcPts val="0"/>
              </a:spcAft>
            </a:pPr>
            <a:r>
              <a:rPr sz="1800" b="1">
                <a:solidFill>
                  <a:srgbClr val="15334A"/>
                </a:solidFill>
                <a:latin typeface="Arial"/>
              </a:rPr>
              <a:t>Publishing</a:t>
            </a:r>
          </a:p>
          <a:p>
            <a:pPr algn="ctr">
              <a:lnSpc>
                <a:spcPts val="1344"/>
              </a:lnSpc>
              <a:spcBef>
                <a:spcPts val="1712"/>
              </a:spcBef>
              <a:spcAft>
                <a:spcPts val="0"/>
              </a:spcAft>
            </a:pPr>
            <a:r>
              <a:rPr sz="1400">
                <a:solidFill>
                  <a:srgbClr val="557085"/>
                </a:solidFill>
                <a:latin typeface="Arial"/>
              </a:rPr>
              <a:t>Versioned model</a:t>
            </a:r>
          </a:p>
          <a:p>
            <a:pPr algn="ctr">
              <a:lnSpc>
                <a:spcPts val="1344"/>
              </a:lnSpc>
              <a:spcBef>
                <a:spcPts val="336"/>
              </a:spcBef>
              <a:spcAft>
                <a:spcPts val="0"/>
              </a:spcAft>
            </a:pPr>
            <a:r>
              <a:rPr sz="1400">
                <a:solidFill>
                  <a:srgbClr val="557085"/>
                </a:solidFill>
                <a:latin typeface="Arial"/>
              </a:rPr>
              <a:t>artifact</a:t>
            </a:r>
          </a:p>
          <a:p>
            <a:pPr algn="ctr">
              <a:lnSpc>
                <a:spcPts val="960"/>
              </a:lnSpc>
              <a:spcBef>
                <a:spcPts val="3456"/>
              </a:spcBef>
              <a:spcAft>
                <a:spcPts val="0"/>
              </a:spcAft>
            </a:pPr>
            <a:r>
              <a:rPr sz="1000" b="1">
                <a:solidFill>
                  <a:srgbClr val="7892A4"/>
                </a:solidFill>
                <a:latin typeface="Arial"/>
              </a:rPr>
              <a:t>OUTPUT</a:t>
            </a:r>
          </a:p>
          <a:p>
            <a:pPr algn="r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77E68"/>
                </a:solidFill>
                <a:latin typeface="Arial"/>
              </a:rPr>
              <a:t>ARTIFACT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53600" y="2103120"/>
            <a:ext cx="1950720" cy="71120"/>
          </a:xfrm>
          <a:prstGeom prst="rect">
            <a:avLst/>
          </a:prstGeom>
          <a:solidFill>
            <a:srgbClr val="577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977120" y="2672080"/>
            <a:ext cx="508000" cy="508000"/>
          </a:xfrm>
          <a:prstGeom prst="rect">
            <a:avLst/>
          </a:prstGeom>
          <a:solidFill>
            <a:srgbClr val="EE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088880" y="2753360"/>
            <a:ext cx="264160" cy="335280"/>
          </a:xfrm>
          <a:custGeom>
            <a:avLst/>
            <a:gdLst/>
            <a:ahLst/>
            <a:cxnLst/>
            <a:rect l="0" t="0" r="r" b="b"/>
            <a:pathLst>
              <a:path w="264160" h="335280">
                <a:moveTo>
                  <a:pt x="0" y="254000"/>
                </a:moveTo>
                <a:lnTo>
                  <a:pt x="264160" y="254000"/>
                </a:lnTo>
                <a:lnTo>
                  <a:pt x="264160" y="335280"/>
                </a:lnTo>
                <a:lnTo>
                  <a:pt x="0" y="335280"/>
                </a:lnTo>
                <a:close/>
                <a:moveTo>
                  <a:pt x="132080" y="213360"/>
                </a:moveTo>
                <a:lnTo>
                  <a:pt x="132080" y="0"/>
                </a:lnTo>
                <a:moveTo>
                  <a:pt x="60960" y="71120"/>
                </a:moveTo>
                <a:lnTo>
                  <a:pt x="132080" y="0"/>
                </a:lnTo>
                <a:lnTo>
                  <a:pt x="203200" y="71120"/>
                </a:lnTo>
              </a:path>
            </a:pathLst>
          </a:custGeom>
          <a:noFill/>
          <a:ln w="33020">
            <a:solidFill>
              <a:srgbClr val="577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977120" y="4561840"/>
            <a:ext cx="1503680" cy="1"/>
          </a:xfrm>
          <a:custGeom>
            <a:avLst/>
            <a:gdLst/>
            <a:ahLst/>
            <a:cxnLst/>
            <a:rect l="0" t="0" r="r" b="b"/>
            <a:pathLst>
              <a:path w="1503680" h="1">
                <a:moveTo>
                  <a:pt x="0" y="0"/>
                </a:moveTo>
                <a:lnTo>
                  <a:pt x="1503680" y="0"/>
                </a:lnTo>
              </a:path>
            </a:pathLst>
          </a:custGeom>
          <a:noFill/>
          <a:ln w="19050">
            <a:solidFill>
              <a:srgbClr val="E2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" y="5608320"/>
            <a:ext cx="11216640" cy="1"/>
          </a:xfrm>
          <a:custGeom>
            <a:avLst/>
            <a:gdLst/>
            <a:ahLst/>
            <a:cxnLst/>
            <a:rect l="0" t="0" r="r" b="b"/>
            <a:pathLst>
              <a:path w="11216640" h="1">
                <a:moveTo>
                  <a:pt x="0" y="0"/>
                </a:moveTo>
                <a:lnTo>
                  <a:pt x="11216640" y="0"/>
                </a:lnTo>
              </a:path>
            </a:pathLst>
          </a:custGeom>
          <a:noFill/>
          <a:ln w="19050">
            <a:solidFill>
              <a:srgbClr val="D9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7680" y="388620"/>
            <a:ext cx="3076956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300" b="1">
                <a:solidFill>
                  <a:srgbClr val="5B7890"/>
                </a:solidFill>
                <a:latin typeface="Arial"/>
              </a:rPr>
              <a:t>REFERENCE ARCHITECTURE • BASELINE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7680" y="604520"/>
            <a:ext cx="6187440" cy="3962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3000" b="1">
                <a:solidFill>
                  <a:srgbClr val="15334A"/>
                </a:solidFill>
                <a:latin typeface="Arial"/>
              </a:rPr>
              <a:t>Training pipeline architecture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7680" y="1013460"/>
            <a:ext cx="6979920" cy="1981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>
                <a:solidFill>
                  <a:srgbClr val="5B7890"/>
                </a:solidFill>
                <a:latin typeface="Arial"/>
              </a:rPr>
              <a:t>Data moves through a controlled sequence of native, editable stages.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7680" y="1684020"/>
            <a:ext cx="1551432" cy="1452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100" b="1">
                <a:solidFill>
                  <a:srgbClr val="7892A4"/>
                </a:solidFill>
                <a:latin typeface="Arial"/>
              </a:rPr>
              <a:t>DIRECTED DATA FLOW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70188" y="1577340"/>
            <a:ext cx="659892" cy="11887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900" b="1">
                <a:solidFill>
                  <a:srgbClr val="577E68"/>
                </a:solidFill>
                <a:latin typeface="Arial"/>
              </a:rPr>
              <a:t>APPROVE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75426" y="1739900"/>
            <a:ext cx="1016508" cy="11887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900" b="1">
                <a:solidFill>
                  <a:srgbClr val="B75D4A"/>
                </a:solidFill>
                <a:latin typeface="Arial"/>
              </a:rPr>
              <a:t>FAIL / RE-RUN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7680" y="5839460"/>
            <a:ext cx="1260856" cy="1452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100" b="1">
                <a:solidFill>
                  <a:srgbClr val="7892A4"/>
                </a:solidFill>
                <a:latin typeface="Arial"/>
              </a:rPr>
              <a:t>BASELINE SCOPE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7680" y="6070600"/>
            <a:ext cx="4959096" cy="184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400">
                <a:solidFill>
                  <a:srgbClr val="557085"/>
                </a:solidFill>
                <a:latin typeface="Arial"/>
              </a:rPr>
              <a:t>Five bounded stages with explicit forward handoffs.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0" name="Picture 20"/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47040" y="386080"/>
            <a:ext cx="4612640" cy="1056640"/>
          </a:xfrm>
          <a:prstGeom prst="rect">
            <a:avLst/>
          </a:prstGeom>
          <a:solidFill>
            <a:srgbClr val="0D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225552" bIns="0"/>
          <a:lstStyle/>
          <a:p>
            <a:pPr algn="ctr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DDE2"/>
                </a:solidFill>
                <a:latin typeface="Arial"/>
              </a:rPr>
              <a:t>RESEARCH COLLABORATION</a:t>
            </a:r>
          </a:p>
          <a:p>
            <a:pPr algn="ctr">
              <a:lnSpc>
                <a:spcPts val="2496"/>
              </a:lnSpc>
              <a:spcBef>
                <a:spcPts val="1648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Researcher + AI loop</a:t>
            </a:r>
          </a:p>
          <a:p>
            <a:pPr algn="ctr">
              <a:lnSpc>
                <a:spcPts val="1248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D5E4EA"/>
                </a:solidFill>
                <a:latin typeface="Arial"/>
              </a:rPr>
              <a:t>Editable annotations sit above the illustrative base.</a:t>
            </a:r>
          </a:p>
        </p:txBody>
      </p:sp>
      <p:sp>
        <p:nvSpPr>
          <p:cNvPr id="3" name="Rectangle 2"/>
          <p:cNvSpPr/>
          <p:nvPr/>
        </p:nvSpPr>
        <p:spPr>
          <a:xfrm>
            <a:off x="447040" y="386080"/>
            <a:ext cx="71120" cy="1056640"/>
          </a:xfrm>
          <a:prstGeom prst="rect">
            <a:avLst/>
          </a:prstGeom>
          <a:solidFill>
            <a:srgbClr val="DD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7040" y="4927600"/>
            <a:ext cx="11297920" cy="1442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218440" bIns="0"/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E899D"/>
                </a:solidFill>
                <a:latin typeface="Arial"/>
              </a:rPr>
              <a:t>EDITABLE COLLABORATION LOOP</a:t>
            </a:r>
          </a:p>
          <a:p>
            <a:pPr algn="ctr">
              <a:lnSpc>
                <a:spcPts val="960"/>
              </a:lnSpc>
              <a:spcBef>
                <a:spcPts val="7040"/>
              </a:spcBef>
              <a:spcAft>
                <a:spcPts val="0"/>
              </a:spcAft>
            </a:pPr>
            <a:r>
              <a:rPr sz="1000">
                <a:solidFill>
                  <a:srgbClr val="7892A4"/>
                </a:solidFill>
                <a:latin typeface="Arial"/>
              </a:rPr>
              <a:t>Illustrative AI-generated base only • factual callouts remain editable overlays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262880"/>
            <a:ext cx="2214880" cy="589280"/>
          </a:xfrm>
          <a:prstGeom prst="rect">
            <a:avLst/>
          </a:prstGeom>
          <a:solidFill>
            <a:srgbClr val="F7FBFC"/>
          </a:solidFill>
          <a:ln w="25400">
            <a:solidFill>
              <a:srgbClr val="4F8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203200" bIns="0"/>
          <a:lstStyle/>
          <a:p>
            <a:pPr algn="ctr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334A"/>
                </a:solidFill>
                <a:latin typeface="Arial"/>
              </a:rPr>
              <a:t>RESEARCHER</a:t>
            </a:r>
          </a:p>
          <a:p>
            <a:pPr algn="ctr">
              <a:lnSpc>
                <a:spcPts val="1152"/>
              </a:lnSpc>
              <a:spcBef>
                <a:spcPts val="368"/>
              </a:spcBef>
              <a:spcAft>
                <a:spcPts val="0"/>
              </a:spcAft>
            </a:pPr>
            <a:r>
              <a:rPr sz="1200">
                <a:solidFill>
                  <a:srgbClr val="557085"/>
                </a:solidFill>
                <a:latin typeface="Arial"/>
              </a:rPr>
              <a:t>Frames the question</a:t>
            </a:r>
          </a:p>
        </p:txBody>
      </p:sp>
      <p:sp>
        <p:nvSpPr>
          <p:cNvPr id="6" name="Oval 5"/>
          <p:cNvSpPr/>
          <p:nvPr/>
        </p:nvSpPr>
        <p:spPr>
          <a:xfrm>
            <a:off x="863600" y="5466080"/>
            <a:ext cx="182880" cy="182880"/>
          </a:xfrm>
          <a:prstGeom prst="ellipse">
            <a:avLst/>
          </a:prstGeom>
          <a:solidFill>
            <a:srgbClr val="DD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4080" y="5516880"/>
            <a:ext cx="121920" cy="121920"/>
          </a:xfrm>
          <a:custGeom>
            <a:avLst/>
            <a:gdLst/>
            <a:ahLst/>
            <a:cxnLst/>
            <a:rect l="0" t="0" r="r" b="b"/>
            <a:pathLst>
              <a:path w="121920" h="121920">
                <a:moveTo>
                  <a:pt x="20320" y="40640"/>
                </a:moveTo>
                <a:cubicBezTo>
                  <a:pt x="20320" y="18195"/>
                  <a:pt x="38515" y="0"/>
                  <a:pt x="60960" y="0"/>
                </a:cubicBezTo>
                <a:cubicBezTo>
                  <a:pt x="83405" y="0"/>
                  <a:pt x="101600" y="18195"/>
                  <a:pt x="101600" y="40640"/>
                </a:cubicBezTo>
                <a:moveTo>
                  <a:pt x="0" y="121920"/>
                </a:moveTo>
                <a:cubicBezTo>
                  <a:pt x="20320" y="81280"/>
                  <a:pt x="101600" y="81280"/>
                  <a:pt x="121920" y="121920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083040" y="5262880"/>
            <a:ext cx="2214880" cy="589280"/>
          </a:xfrm>
          <a:prstGeom prst="rect">
            <a:avLst/>
          </a:prstGeom>
          <a:solidFill>
            <a:srgbClr val="F7FBFC"/>
          </a:solidFill>
          <a:ln w="25400">
            <a:solidFill>
              <a:srgbClr val="4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203200" bIns="0"/>
          <a:lstStyle/>
          <a:p>
            <a:pPr algn="ctr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334A"/>
                </a:solidFill>
                <a:latin typeface="Arial"/>
              </a:rPr>
              <a:t>AI LAB</a:t>
            </a:r>
          </a:p>
          <a:p>
            <a:pPr algn="ctr">
              <a:lnSpc>
                <a:spcPts val="1152"/>
              </a:lnSpc>
              <a:spcBef>
                <a:spcPts val="368"/>
              </a:spcBef>
              <a:spcAft>
                <a:spcPts val="0"/>
              </a:spcAft>
            </a:pPr>
            <a:r>
              <a:rPr sz="1200">
                <a:solidFill>
                  <a:srgbClr val="557085"/>
                </a:solidFill>
                <a:latin typeface="Arial"/>
              </a:rPr>
              <a:t>Surfaces patterns</a:t>
            </a:r>
          </a:p>
        </p:txBody>
      </p:sp>
      <p:sp>
        <p:nvSpPr>
          <p:cNvPr id="9" name="Oval 8"/>
          <p:cNvSpPr/>
          <p:nvPr/>
        </p:nvSpPr>
        <p:spPr>
          <a:xfrm>
            <a:off x="9215120" y="5466080"/>
            <a:ext cx="182880" cy="182880"/>
          </a:xfrm>
          <a:prstGeom prst="ellipse">
            <a:avLst/>
          </a:prstGeom>
          <a:solidFill>
            <a:srgbClr val="4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55760" y="5506720"/>
            <a:ext cx="101600" cy="101600"/>
          </a:xfrm>
          <a:custGeom>
            <a:avLst/>
            <a:gdLst/>
            <a:ahLst/>
            <a:cxnLst/>
            <a:rect l="0" t="0" r="r" b="b"/>
            <a:pathLst>
              <a:path w="101600" h="101600">
                <a:moveTo>
                  <a:pt x="0" y="50800"/>
                </a:moveTo>
                <a:lnTo>
                  <a:pt x="101600" y="50800"/>
                </a:lnTo>
                <a:moveTo>
                  <a:pt x="50800" y="0"/>
                </a:moveTo>
                <a:lnTo>
                  <a:pt x="50800" y="101600"/>
                </a:lnTo>
                <a:moveTo>
                  <a:pt x="10160" y="10160"/>
                </a:moveTo>
                <a:lnTo>
                  <a:pt x="91440" y="91440"/>
                </a:lnTo>
                <a:moveTo>
                  <a:pt x="91440" y="10160"/>
                </a:moveTo>
                <a:lnTo>
                  <a:pt x="10160" y="9144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49600" y="5262880"/>
            <a:ext cx="1341120" cy="589280"/>
          </a:xfrm>
          <a:prstGeom prst="rect">
            <a:avLst/>
          </a:prstGeom>
          <a:solidFill>
            <a:srgbClr val="EEF5F8"/>
          </a:solidFill>
          <a:ln w="19050"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210820" bIns="0"/>
          <a:lstStyle/>
          <a:p>
            <a:pPr algn="ctr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5334A"/>
                </a:solidFill>
                <a:latin typeface="Arial"/>
              </a:rPr>
              <a:t>QUESTION</a:t>
            </a:r>
          </a:p>
          <a:p>
            <a:pPr algn="ctr">
              <a:lnSpc>
                <a:spcPts val="1056"/>
              </a:lnSpc>
              <a:spcBef>
                <a:spcPts val="464"/>
              </a:spcBef>
              <a:spcAft>
                <a:spcPts val="0"/>
              </a:spcAft>
            </a:pPr>
            <a:r>
              <a:rPr sz="1100">
                <a:solidFill>
                  <a:srgbClr val="557085"/>
                </a:solidFill>
                <a:latin typeface="Arial"/>
              </a:rPr>
              <a:t>frame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34560" y="5262880"/>
            <a:ext cx="1341120" cy="589280"/>
          </a:xfrm>
          <a:prstGeom prst="rect">
            <a:avLst/>
          </a:prstGeom>
          <a:solidFill>
            <a:srgbClr val="EEF7F7"/>
          </a:solidFill>
          <a:ln w="19050">
            <a:solidFill>
              <a:srgbClr val="B9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210820" bIns="0"/>
          <a:lstStyle/>
          <a:p>
            <a:pPr algn="ctr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5334A"/>
                </a:solidFill>
                <a:latin typeface="Arial"/>
              </a:rPr>
              <a:t>EXPERIMENT</a:t>
            </a:r>
          </a:p>
          <a:p>
            <a:pPr algn="ctr">
              <a:lnSpc>
                <a:spcPts val="1056"/>
              </a:lnSpc>
              <a:spcBef>
                <a:spcPts val="464"/>
              </a:spcBef>
              <a:spcAft>
                <a:spcPts val="0"/>
              </a:spcAft>
            </a:pPr>
            <a:r>
              <a:rPr sz="1100">
                <a:solidFill>
                  <a:srgbClr val="557085"/>
                </a:solidFill>
                <a:latin typeface="Arial"/>
              </a:rPr>
              <a:t>probe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19520" y="5262880"/>
            <a:ext cx="1341120" cy="589280"/>
          </a:xfrm>
          <a:prstGeom prst="rect">
            <a:avLst/>
          </a:prstGeom>
          <a:solidFill>
            <a:srgbClr val="FBF5EC"/>
          </a:solidFill>
          <a:ln w="19050">
            <a:solidFill>
              <a:srgbClr val="D7B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210820" bIns="0"/>
          <a:lstStyle/>
          <a:p>
            <a:pPr algn="ctr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5334A"/>
                </a:solidFill>
                <a:latin typeface="Arial"/>
              </a:rPr>
              <a:t>JUDGMENT</a:t>
            </a:r>
          </a:p>
          <a:p>
            <a:pPr algn="ctr">
              <a:lnSpc>
                <a:spcPts val="1056"/>
              </a:lnSpc>
              <a:spcBef>
                <a:spcPts val="464"/>
              </a:spcBef>
              <a:spcAft>
                <a:spcPts val="0"/>
              </a:spcAft>
            </a:pPr>
            <a:r>
              <a:rPr sz="1100">
                <a:solidFill>
                  <a:srgbClr val="8B6840"/>
                </a:solidFill>
                <a:latin typeface="Arial"/>
              </a:rPr>
              <a:t>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90720" y="5557520"/>
            <a:ext cx="162560" cy="1"/>
          </a:xfrm>
          <a:custGeom>
            <a:avLst/>
            <a:gdLst/>
            <a:ahLst/>
            <a:cxnLst/>
            <a:rect l="0" t="0" r="r" b="b"/>
            <a:pathLst>
              <a:path w="162560" h="1">
                <a:moveTo>
                  <a:pt x="0" y="0"/>
                </a:moveTo>
                <a:lnTo>
                  <a:pt x="162560" y="0"/>
                </a:lnTo>
              </a:path>
            </a:pathLst>
          </a:custGeom>
          <a:noFill/>
          <a:ln w="31750">
            <a:solidFill>
              <a:srgbClr val="6B9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92320" y="5496560"/>
            <a:ext cx="81280" cy="121920"/>
          </a:xfrm>
          <a:custGeom>
            <a:avLst/>
            <a:gdLst/>
            <a:ahLst/>
            <a:cxnLst/>
            <a:rect l="0" t="0" r="r" b="b"/>
            <a:pathLst>
              <a:path w="81280" h="121920">
                <a:moveTo>
                  <a:pt x="0" y="0"/>
                </a:moveTo>
                <a:lnTo>
                  <a:pt x="81280" y="60960"/>
                </a:lnTo>
                <a:lnTo>
                  <a:pt x="0" y="121920"/>
                </a:lnTo>
              </a:path>
            </a:pathLst>
          </a:custGeom>
          <a:noFill/>
          <a:ln w="31750">
            <a:solidFill>
              <a:srgbClr val="6B9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75680" y="5557520"/>
            <a:ext cx="162560" cy="1"/>
          </a:xfrm>
          <a:custGeom>
            <a:avLst/>
            <a:gdLst/>
            <a:ahLst/>
            <a:cxnLst/>
            <a:rect l="0" t="0" r="r" b="b"/>
            <a:pathLst>
              <a:path w="162560" h="1">
                <a:moveTo>
                  <a:pt x="0" y="0"/>
                </a:moveTo>
                <a:lnTo>
                  <a:pt x="162560" y="0"/>
                </a:lnTo>
              </a:path>
            </a:pathLst>
          </a:custGeom>
          <a:noFill/>
          <a:ln w="31750">
            <a:solidFill>
              <a:srgbClr val="6B9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7280" y="5496560"/>
            <a:ext cx="81280" cy="121920"/>
          </a:xfrm>
          <a:custGeom>
            <a:avLst/>
            <a:gdLst/>
            <a:ahLst/>
            <a:cxnLst/>
            <a:rect l="0" t="0" r="r" b="b"/>
            <a:pathLst>
              <a:path w="81280" h="121920">
                <a:moveTo>
                  <a:pt x="0" y="0"/>
                </a:moveTo>
                <a:lnTo>
                  <a:pt x="81280" y="60960"/>
                </a:lnTo>
                <a:lnTo>
                  <a:pt x="0" y="121920"/>
                </a:lnTo>
              </a:path>
            </a:pathLst>
          </a:custGeom>
          <a:noFill/>
          <a:ln w="31750">
            <a:solidFill>
              <a:srgbClr val="6B9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46400" y="5994400"/>
            <a:ext cx="4714240" cy="274320"/>
          </a:xfrm>
          <a:custGeom>
            <a:avLst/>
            <a:gdLst/>
            <a:ahLst/>
            <a:cxnLst/>
            <a:rect l="0" t="0" r="r" b="b"/>
            <a:pathLst>
              <a:path w="4714240" h="274320">
                <a:moveTo>
                  <a:pt x="4714240" y="0"/>
                </a:moveTo>
                <a:cubicBezTo>
                  <a:pt x="3352800" y="274320"/>
                  <a:pt x="1605280" y="274320"/>
                  <a:pt x="0" y="0"/>
                </a:cubicBezTo>
              </a:path>
            </a:pathLst>
          </a:custGeom>
          <a:noFill/>
          <a:ln w="31750">
            <a:solidFill>
              <a:srgbClr val="4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26080" y="5933440"/>
            <a:ext cx="121920" cy="121920"/>
          </a:xfrm>
          <a:custGeom>
            <a:avLst/>
            <a:gdLst/>
            <a:ahLst/>
            <a:cxnLst/>
            <a:rect l="0" t="0" r="r" b="b"/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/>
          <a:ln w="31750">
            <a:solidFill>
              <a:srgbClr val="4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1402080"/>
            <a:ext cx="10972800" cy="1"/>
          </a:xfrm>
          <a:custGeom>
            <a:avLst/>
            <a:gdLst/>
            <a:ahLst/>
            <a:cxnLst/>
            <a:rect l="0" t="0" r="r" b="b"/>
            <a:pathLst>
              <a:path w="10972800" h="1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5400">
            <a:solidFill>
              <a:srgbClr val="D9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422400" y="1828800"/>
            <a:ext cx="9753600" cy="0"/>
          </a:xfrm>
          <a:prstGeom prst="line">
            <a:avLst/>
          </a:prstGeom>
          <a:ln w="19050">
            <a:solidFill>
              <a:srgbClr val="D9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422400" y="2692400"/>
            <a:ext cx="9753600" cy="0"/>
          </a:xfrm>
          <a:prstGeom prst="line">
            <a:avLst/>
          </a:prstGeom>
          <a:ln w="19050">
            <a:solidFill>
              <a:srgbClr val="E7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422400" y="3556000"/>
            <a:ext cx="9753600" cy="0"/>
          </a:xfrm>
          <a:prstGeom prst="line">
            <a:avLst/>
          </a:prstGeom>
          <a:ln w="19050">
            <a:solidFill>
              <a:srgbClr val="E7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22400" y="4419600"/>
            <a:ext cx="9753600" cy="0"/>
          </a:xfrm>
          <a:prstGeom prst="line">
            <a:avLst/>
          </a:prstGeom>
          <a:ln w="19050">
            <a:solidFill>
              <a:srgbClr val="E7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22400" y="5283200"/>
            <a:ext cx="9753600" cy="0"/>
          </a:xfrm>
          <a:prstGeom prst="line">
            <a:avLst/>
          </a:prstGeom>
          <a:ln w="25400">
            <a:solidFill>
              <a:srgbClr val="B9CC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22400" y="1828800"/>
            <a:ext cx="0" cy="3454400"/>
          </a:xfrm>
          <a:prstGeom prst="line">
            <a:avLst/>
          </a:prstGeom>
          <a:ln w="25400">
            <a:solidFill>
              <a:srgbClr val="6B8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22400" y="5283200"/>
            <a:ext cx="9753600" cy="0"/>
          </a:xfrm>
          <a:prstGeom prst="line">
            <a:avLst/>
          </a:prstGeom>
          <a:ln w="25400">
            <a:solidFill>
              <a:srgbClr val="6B8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41120" y="1828800"/>
            <a:ext cx="81280" cy="0"/>
          </a:xfrm>
          <a:prstGeom prst="line">
            <a:avLst/>
          </a:prstGeom>
          <a:ln w="25400">
            <a:solidFill>
              <a:srgbClr val="6B8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41120" y="2692400"/>
            <a:ext cx="81280" cy="0"/>
          </a:xfrm>
          <a:prstGeom prst="line">
            <a:avLst/>
          </a:prstGeom>
          <a:ln w="25400">
            <a:solidFill>
              <a:srgbClr val="6B8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41120" y="3556000"/>
            <a:ext cx="81280" cy="0"/>
          </a:xfrm>
          <a:prstGeom prst="line">
            <a:avLst/>
          </a:prstGeom>
          <a:ln w="25400">
            <a:solidFill>
              <a:srgbClr val="6B8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41120" y="4419600"/>
            <a:ext cx="81280" cy="0"/>
          </a:xfrm>
          <a:prstGeom prst="line">
            <a:avLst/>
          </a:prstGeom>
          <a:ln w="25400">
            <a:solidFill>
              <a:srgbClr val="6B8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41120" y="5283200"/>
            <a:ext cx="81280" cy="0"/>
          </a:xfrm>
          <a:prstGeom prst="line">
            <a:avLst/>
          </a:prstGeom>
          <a:ln w="25400">
            <a:solidFill>
              <a:srgbClr val="6B8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397760" y="2792578"/>
            <a:ext cx="1137920" cy="2490622"/>
          </a:xfrm>
          <a:prstGeom prst="rect">
            <a:avLst/>
          </a:prstGeom>
          <a:solidFill>
            <a:srgbClr val="5B7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32960" y="2464410"/>
            <a:ext cx="1137920" cy="2818790"/>
          </a:xfrm>
          <a:prstGeom prst="rect">
            <a:avLst/>
          </a:prstGeom>
          <a:solidFill>
            <a:srgbClr val="6B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68160" y="1884070"/>
            <a:ext cx="1137920" cy="3399130"/>
          </a:xfrm>
          <a:prstGeom prst="rect">
            <a:avLst/>
          </a:prstGeom>
          <a:solidFill>
            <a:srgbClr val="4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03360" y="1828800"/>
            <a:ext cx="1137920" cy="3454400"/>
          </a:xfrm>
          <a:prstGeom prst="rect">
            <a:avLst/>
          </a:prstGeom>
          <a:solidFill>
            <a:srgbClr val="D29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24800" y="731520"/>
            <a:ext cx="142240" cy="142240"/>
          </a:xfrm>
          <a:prstGeom prst="rect">
            <a:avLst/>
          </a:prstGeom>
          <a:solidFill>
            <a:srgbClr val="5B7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1760" y="731520"/>
            <a:ext cx="142240" cy="142240"/>
          </a:xfrm>
          <a:prstGeom prst="rect">
            <a:avLst/>
          </a:prstGeom>
          <a:solidFill>
            <a:srgbClr val="4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6339840"/>
            <a:ext cx="10972800" cy="1"/>
          </a:xfrm>
          <a:custGeom>
            <a:avLst/>
            <a:gdLst/>
            <a:ahLst/>
            <a:cxnLst/>
            <a:rect l="0" t="0" r="r" b="b"/>
            <a:pathLst>
              <a:path w="10972800" h="1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9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388620"/>
            <a:ext cx="2218436" cy="1717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300" b="1">
                <a:solidFill>
                  <a:srgbClr val="5B7890"/>
                </a:solidFill>
                <a:latin typeface="Arial"/>
              </a:rPr>
              <a:t>DETERMINISTIC DATA 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24840"/>
            <a:ext cx="4008120" cy="3962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3000" b="1">
                <a:solidFill>
                  <a:srgbClr val="15334A"/>
                </a:solidFill>
                <a:latin typeface="Arial"/>
              </a:rPr>
              <a:t>Accuracy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1033780"/>
            <a:ext cx="5196840" cy="1981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>
                <a:solidFill>
                  <a:srgbClr val="5B7890"/>
                </a:solidFill>
                <a:latin typeface="Arial"/>
              </a:rPr>
              <a:t>Four checkpoints rendered directly from data.json.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296" y="1788160"/>
            <a:ext cx="481584" cy="1584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>
                <a:solidFill>
                  <a:srgbClr val="557085"/>
                </a:solidFill>
                <a:latin typeface="Arial"/>
              </a:rPr>
              <a:t>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6544" y="2651760"/>
            <a:ext cx="402336" cy="1584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>
                <a:solidFill>
                  <a:srgbClr val="557085"/>
                </a:solidFill>
                <a:latin typeface="Arial"/>
              </a:rPr>
              <a:t>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6544" y="3515360"/>
            <a:ext cx="402336" cy="1584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>
                <a:solidFill>
                  <a:srgbClr val="557085"/>
                </a:solidFill>
                <a:latin typeface="Arial"/>
              </a:rPr>
              <a:t>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6544" y="4378960"/>
            <a:ext cx="402336" cy="1584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>
                <a:solidFill>
                  <a:srgbClr val="557085"/>
                </a:solidFill>
                <a:latin typeface="Arial"/>
              </a:rPr>
              <a:t>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792" y="5242560"/>
            <a:ext cx="323088" cy="1584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>
                <a:solidFill>
                  <a:srgbClr val="557085"/>
                </a:solidFill>
                <a:latin typeface="Arial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2400" y="1541780"/>
            <a:ext cx="1115568" cy="1452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100" b="1">
                <a:solidFill>
                  <a:srgbClr val="557085"/>
                </a:solidFill>
                <a:latin typeface="Arial"/>
              </a:rPr>
              <a:t>ACCURACY (%)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81040" y="5984240"/>
            <a:ext cx="1036320" cy="1584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200" b="1">
                <a:solidFill>
                  <a:srgbClr val="557085"/>
                </a:solidFill>
                <a:latin typeface="Arial"/>
              </a:rPr>
              <a:t>CHECKPOINT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97150" y="2506980"/>
            <a:ext cx="739140" cy="1981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500" b="1">
                <a:solidFill>
                  <a:srgbClr val="15334A"/>
                </a:solidFill>
                <a:latin typeface="Arial"/>
              </a:rPr>
              <a:t>72.1%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32350" y="2181860"/>
            <a:ext cx="739140" cy="1981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500" b="1">
                <a:solidFill>
                  <a:srgbClr val="15334A"/>
                </a:solidFill>
                <a:latin typeface="Arial"/>
              </a:rPr>
              <a:t>81.6%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67550" y="1602740"/>
            <a:ext cx="739140" cy="1981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500" b="1">
                <a:solidFill>
                  <a:srgbClr val="15334A"/>
                </a:solidFill>
                <a:latin typeface="Arial"/>
              </a:rPr>
              <a:t>98.4%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53220" y="1551940"/>
            <a:ext cx="838200" cy="1981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500" b="1">
                <a:solidFill>
                  <a:srgbClr val="15334A"/>
                </a:solidFill>
                <a:latin typeface="Arial"/>
              </a:rPr>
              <a:t>100.0%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82520" y="5481320"/>
            <a:ext cx="1168400" cy="184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400" b="1">
                <a:solidFill>
                  <a:srgbClr val="15334A"/>
                </a:solidFill>
                <a:latin typeface="Arial"/>
              </a:rPr>
              <a:t>Baseline 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5481320"/>
            <a:ext cx="1168400" cy="184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400" b="1">
                <a:solidFill>
                  <a:srgbClr val="15334A"/>
                </a:solidFill>
                <a:latin typeface="Arial"/>
              </a:rPr>
              <a:t>Baseline 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99148" y="5481320"/>
            <a:ext cx="1075944" cy="184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400" b="1">
                <a:solidFill>
                  <a:srgbClr val="15334A"/>
                </a:solidFill>
                <a:latin typeface="Arial"/>
              </a:rPr>
              <a:t>Current 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34348" y="5481320"/>
            <a:ext cx="1075944" cy="1849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400" b="1">
                <a:solidFill>
                  <a:srgbClr val="15334A"/>
                </a:solidFill>
                <a:latin typeface="Arial"/>
              </a:rPr>
              <a:t>Current 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8480" y="762000"/>
            <a:ext cx="877824" cy="1584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200">
                <a:solidFill>
                  <a:srgbClr val="557085"/>
                </a:solidFill>
                <a:latin typeface="Arial"/>
              </a:rPr>
              <a:t>Baseline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762000"/>
            <a:ext cx="798576" cy="1584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200">
                <a:solidFill>
                  <a:srgbClr val="557085"/>
                </a:solidFill>
                <a:latin typeface="Arial"/>
              </a:rPr>
              <a:t>Current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600" y="6510020"/>
            <a:ext cx="4457192" cy="1452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100">
                <a:solidFill>
                  <a:srgbClr val="7892A4"/>
                </a:solidFill>
                <a:latin typeface="Arial"/>
              </a:rPr>
              <a:t>Source data: accuracy-comparison/data.json • unit: percent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