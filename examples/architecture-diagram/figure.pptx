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Transformer encoder — full architecture. Input pipeline, the repeated stack, both sub-blocks opened up, and the training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5120" y="731520"/>
            <a:ext cx="3779520" cy="894080"/>
          </a:xfrm>
          <a:prstGeom prst="roundRect">
            <a:avLst>
              <a:gd name="adj" fmla="val 4545"/>
            </a:avLst>
          </a:prstGeom>
          <a:noFill/>
          <a:ln w="1905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91440" bIns="0"/>
          <a:lstStyle/>
          <a:p>
            <a:pPr algn="l" marL="81280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1. Input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7040" y="1056640"/>
            <a:ext cx="812800" cy="3657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Token ids</a:t>
            </a:r>
          </a:p>
          <a:p>
            <a:pPr algn="l" marL="81280">
              <a:lnSpc>
                <a:spcPts val="768"/>
              </a:lnSpc>
              <a:spcBef>
                <a:spcPts val="17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81760" y="1016000"/>
            <a:ext cx="1341120" cy="4876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Embedding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vocab 32k, weight-tied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44800" y="1016000"/>
            <a:ext cx="1137920" cy="4876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Rotary position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applied to Q and K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6560" y="731520"/>
            <a:ext cx="3169920" cy="772160"/>
          </a:xfrm>
          <a:prstGeom prst="roundRect">
            <a:avLst>
              <a:gd name="adj" fmla="val 5263"/>
            </a:avLst>
          </a:prstGeom>
          <a:noFill/>
          <a:ln w="1905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91440" bIns="0"/>
          <a:lstStyle/>
          <a:p>
            <a:pPr algn="l" marL="81280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2. Encoder stack  (N = 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8480" y="1016000"/>
            <a:ext cx="690880" cy="3657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Block 1</a:t>
            </a:r>
          </a:p>
          <a:p>
            <a:pPr algn="l" marL="81280">
              <a:lnSpc>
                <a:spcPts val="768"/>
              </a:lnSpc>
              <a:spcBef>
                <a:spcPts val="17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1280" y="1016000"/>
            <a:ext cx="690880" cy="3657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Block 2</a:t>
            </a:r>
          </a:p>
          <a:p>
            <a:pPr algn="l" marL="81280">
              <a:lnSpc>
                <a:spcPts val="768"/>
              </a:lnSpc>
              <a:spcBef>
                <a:spcPts val="17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4080" y="1016000"/>
            <a:ext cx="447040" cy="325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60020" bIns="0"/>
          <a:lstStyle/>
          <a:p>
            <a:pPr algn="ctr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Arial"/>
              </a:rPr>
              <a:t>• • 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43040" y="1016000"/>
            <a:ext cx="731520" cy="3657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Block N</a:t>
            </a:r>
          </a:p>
          <a:p>
            <a:pPr algn="l" marL="81280">
              <a:lnSpc>
                <a:spcPts val="768"/>
              </a:lnSpc>
              <a:spcBef>
                <a:spcPts val="17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18400" y="731520"/>
            <a:ext cx="3860800" cy="894080"/>
          </a:xfrm>
          <a:prstGeom prst="roundRect">
            <a:avLst>
              <a:gd name="adj" fmla="val 4545"/>
            </a:avLst>
          </a:prstGeom>
          <a:noFill/>
          <a:ln w="1905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91440" bIns="0"/>
          <a:lstStyle/>
          <a:p>
            <a:pPr algn="l" marL="81280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3. Head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40320" y="1016000"/>
            <a:ext cx="1300480" cy="4876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Mean pool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masked over padding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2720" y="1016000"/>
            <a:ext cx="894080" cy="4876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Task head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Linear d to C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78720" y="1016000"/>
            <a:ext cx="1178560" cy="487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Cross-entropy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label smoothing 0.1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scalar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120" y="1747520"/>
            <a:ext cx="6055360" cy="1137920"/>
          </a:xfrm>
          <a:prstGeom prst="roundRect">
            <a:avLst>
              <a:gd name="adj" fmla="val 3571"/>
            </a:avLst>
          </a:prstGeom>
          <a:noFill/>
          <a:ln w="1905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91440" bIns="0"/>
          <a:lstStyle/>
          <a:p>
            <a:pPr algn="l" marL="81280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4. Self-attention sub-block  (pre-norm residual)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7040" y="2032000"/>
            <a:ext cx="5811520" cy="731520"/>
          </a:xfrm>
          <a:prstGeom prst="roundRect">
            <a:avLst>
              <a:gd name="adj" fmla="val 5555"/>
            </a:avLst>
          </a:prstGeom>
          <a:noFill/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8960" y="2194560"/>
            <a:ext cx="894080" cy="3657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LayerNorm</a:t>
            </a:r>
          </a:p>
          <a:p>
            <a:pPr algn="l" marL="81280">
              <a:lnSpc>
                <a:spcPts val="768"/>
              </a:lnSpc>
              <a:spcBef>
                <a:spcPts val="17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84960" y="2153920"/>
            <a:ext cx="1137920" cy="4876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QKV projection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3 x Linear d to d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H, L, d/H)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44800" y="2153920"/>
            <a:ext cx="1463040" cy="4876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Scaled dot-product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causal mask, dropout 0.1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H, L, 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9760" y="2194560"/>
            <a:ext cx="1259840" cy="3657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Output projection</a:t>
            </a:r>
          </a:p>
          <a:p>
            <a:pPr algn="l" marL="81280">
              <a:lnSpc>
                <a:spcPts val="768"/>
              </a:lnSpc>
              <a:spcBef>
                <a:spcPts val="17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22" name="Oval 21"/>
          <p:cNvSpPr/>
          <p:nvPr/>
        </p:nvSpPr>
        <p:spPr>
          <a:xfrm>
            <a:off x="5811520" y="2235200"/>
            <a:ext cx="325120" cy="325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49860" bIns="0"/>
          <a:lstStyle/>
          <a:p>
            <a:pPr algn="ctr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75569"/>
                </a:solidFill>
                <a:latin typeface="Arial"/>
              </a:rPr>
              <a:t>+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02400" y="1747520"/>
            <a:ext cx="4267200" cy="1137920"/>
          </a:xfrm>
          <a:prstGeom prst="roundRect">
            <a:avLst>
              <a:gd name="adj" fmla="val 3571"/>
            </a:avLst>
          </a:prstGeom>
          <a:noFill/>
          <a:ln w="1905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91440" bIns="0"/>
          <a:lstStyle/>
          <a:p>
            <a:pPr algn="l" marL="81280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5. Feed-forward sub-block  (pre-norm residual)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4320" y="2032000"/>
            <a:ext cx="4023360" cy="731520"/>
          </a:xfrm>
          <a:prstGeom prst="roundRect">
            <a:avLst>
              <a:gd name="adj" fmla="val 5555"/>
            </a:avLst>
          </a:prstGeom>
          <a:noFill/>
          <a:ln w="19050">
            <a:solidFill>
              <a:srgbClr val="6474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46240" y="2194560"/>
            <a:ext cx="894080" cy="3657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LayerNorm</a:t>
            </a:r>
          </a:p>
          <a:p>
            <a:pPr algn="l" marL="81280">
              <a:lnSpc>
                <a:spcPts val="768"/>
              </a:lnSpc>
              <a:spcBef>
                <a:spcPts val="17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62240" y="2153920"/>
            <a:ext cx="1137920" cy="4876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Linear d to 4d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GELU, dropout 0.1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L, 4d)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22080" y="2194560"/>
            <a:ext cx="1056640" cy="36576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Linear 4d to d</a:t>
            </a:r>
          </a:p>
          <a:p>
            <a:pPr algn="l" marL="81280">
              <a:lnSpc>
                <a:spcPts val="768"/>
              </a:lnSpc>
              <a:spcBef>
                <a:spcPts val="17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28" name="Oval 27"/>
          <p:cNvSpPr/>
          <p:nvPr/>
        </p:nvSpPr>
        <p:spPr>
          <a:xfrm>
            <a:off x="10200640" y="2235200"/>
            <a:ext cx="325120" cy="3251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49860" bIns="0"/>
          <a:lstStyle/>
          <a:p>
            <a:pPr algn="ctr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75569"/>
                </a:solidFill>
                <a:latin typeface="Arial"/>
              </a:rPr>
              <a:t>+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5120" y="3007360"/>
            <a:ext cx="5039360" cy="894080"/>
          </a:xfrm>
          <a:prstGeom prst="roundRect">
            <a:avLst>
              <a:gd name="adj" fmla="val 4545"/>
            </a:avLst>
          </a:prstGeom>
          <a:noFill/>
          <a:ln w="1905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91440" bIns="0"/>
          <a:lstStyle/>
          <a:p>
            <a:pPr algn="l" marL="81280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6. Training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7040" y="3291840"/>
            <a:ext cx="1056640" cy="4876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Forward pass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bf16 autocast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L, 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25600" y="3291840"/>
            <a:ext cx="853440" cy="487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Backward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grad clip 1.0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grads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00960" y="3291840"/>
            <a:ext cx="1300480" cy="487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AdamW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beta 0.9 / 0.95, wd 0.1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params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0" y="3291840"/>
            <a:ext cx="1219200" cy="4876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Cosine schedule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2k warmup steps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lr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3007360"/>
            <a:ext cx="5323840" cy="894080"/>
          </a:xfrm>
          <a:prstGeom prst="roundRect">
            <a:avLst>
              <a:gd name="adj" fmla="val 4545"/>
            </a:avLst>
          </a:prstGeom>
          <a:noFill/>
          <a:ln w="19050">
            <a:solidFill>
              <a:srgbClr val="E2E8F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91440" bIns="0"/>
          <a:lstStyle/>
          <a:p>
            <a:pPr algn="l" marL="81280">
              <a:lnSpc>
                <a:spcPts val="76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rial"/>
              </a:rPr>
              <a:t>7. Inference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08320" y="3291840"/>
            <a:ext cx="1137920" cy="4876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KV cache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per layer, per head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H, L, d/H)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68160" y="3291840"/>
            <a:ext cx="1219200" cy="4876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Incremental step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one token at a time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1, 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09280" y="3291840"/>
            <a:ext cx="1137920" cy="4876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Sampling</a:t>
            </a:r>
          </a:p>
          <a:p>
            <a:pPr algn="l" marL="81280">
              <a:lnSpc>
                <a:spcPts val="768"/>
              </a:lnSpc>
              <a:spcBef>
                <a:spcPts val="9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top-p 0.9, temp 0.8</a:t>
            </a:r>
          </a:p>
          <a:p>
            <a:pPr algn="l" marL="81280">
              <a:lnSpc>
                <a:spcPts val="768"/>
              </a:lnSpc>
              <a:spcBef>
                <a:spcPts val="272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1)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469120" y="3332480"/>
            <a:ext cx="1219200" cy="3657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0" rIns="0" tIns="104140" bIns="0"/>
          <a:lstStyle/>
          <a:p>
            <a:pPr algn="l" marL="81280">
              <a:lnSpc>
                <a:spcPts val="864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74151"/>
                </a:solidFill>
                <a:latin typeface="Arial"/>
              </a:rPr>
              <a:t>Generated token</a:t>
            </a:r>
          </a:p>
          <a:p>
            <a:pPr algn="l" marL="81280">
              <a:lnSpc>
                <a:spcPts val="768"/>
              </a:lnSpc>
              <a:spcBef>
                <a:spcPts val="176"/>
              </a:spcBef>
              <a:spcAft>
                <a:spcPts val="0"/>
              </a:spcAft>
            </a:pPr>
            <a:r>
              <a:rPr sz="800">
                <a:solidFill>
                  <a:srgbClr val="64748B"/>
                </a:solidFill>
                <a:latin typeface="Arial"/>
              </a:rPr>
              <a:t>(B, 1)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503680" y="3535680"/>
            <a:ext cx="1219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479040" y="3535680"/>
            <a:ext cx="1219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01440" y="3535680"/>
            <a:ext cx="1219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746240" y="3535680"/>
            <a:ext cx="1219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87360" y="3535680"/>
            <a:ext cx="1219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347200" y="3535680"/>
            <a:ext cx="40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387840" y="3515360"/>
            <a:ext cx="0" cy="2032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387840" y="3515360"/>
            <a:ext cx="812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259840" y="1239520"/>
            <a:ext cx="40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300480" y="1239520"/>
            <a:ext cx="0" cy="2032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300480" y="1259840"/>
            <a:ext cx="812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722880" y="1259840"/>
            <a:ext cx="1219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982720" y="1259840"/>
            <a:ext cx="1625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145280" y="1198880"/>
            <a:ext cx="0" cy="6096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145280" y="1198880"/>
            <a:ext cx="2032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9360" y="1198880"/>
            <a:ext cx="1219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274560" y="1198880"/>
            <a:ext cx="16256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437120" y="1198880"/>
            <a:ext cx="0" cy="6096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437120" y="1259840"/>
            <a:ext cx="2032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940800" y="1259840"/>
            <a:ext cx="1219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956800" y="1259840"/>
            <a:ext cx="1219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463040" y="2377440"/>
            <a:ext cx="40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503680" y="2377440"/>
            <a:ext cx="0" cy="2032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503680" y="2397760"/>
            <a:ext cx="812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2722880" y="2397760"/>
            <a:ext cx="1219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307840" y="2397760"/>
            <a:ext cx="40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4348480" y="2377440"/>
            <a:ext cx="0" cy="2032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348480" y="2377440"/>
            <a:ext cx="812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5689600" y="2377440"/>
            <a:ext cx="40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5730240" y="2377440"/>
            <a:ext cx="0" cy="2032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5730240" y="2397760"/>
            <a:ext cx="812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7640320" y="2377440"/>
            <a:ext cx="40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680960" y="2377440"/>
            <a:ext cx="0" cy="2032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680960" y="2397760"/>
            <a:ext cx="812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900160" y="2397760"/>
            <a:ext cx="40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8940800" y="2377440"/>
            <a:ext cx="0" cy="2032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8940800" y="2377440"/>
            <a:ext cx="812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078720" y="2377440"/>
            <a:ext cx="4064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119360" y="2377440"/>
            <a:ext cx="0" cy="2032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119360" y="2397760"/>
            <a:ext cx="812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6000" y="2092960"/>
            <a:ext cx="0" cy="1016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16000" y="2092960"/>
            <a:ext cx="495808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974080" y="2092960"/>
            <a:ext cx="0" cy="14224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193280" y="2092960"/>
            <a:ext cx="0" cy="10160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193280" y="2092960"/>
            <a:ext cx="3169920" cy="0"/>
          </a:xfrm>
          <a:prstGeom prst="line">
            <a:avLst/>
          </a:prstGeom>
          <a:ln w="2540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10363200" y="2092960"/>
            <a:ext cx="0" cy="14224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0668000" y="1503680"/>
            <a:ext cx="0" cy="1239520"/>
          </a:xfrm>
          <a:prstGeom prst="line">
            <a:avLst/>
          </a:prstGeom>
          <a:ln w="2540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3576320" y="2743200"/>
            <a:ext cx="7091680" cy="0"/>
          </a:xfrm>
          <a:prstGeom prst="line">
            <a:avLst/>
          </a:prstGeom>
          <a:ln w="25400">
            <a:solidFill>
              <a:srgbClr val="B4530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576320" y="2641600"/>
            <a:ext cx="0" cy="101600"/>
          </a:xfrm>
          <a:prstGeom prst="line">
            <a:avLst/>
          </a:prstGeom>
          <a:ln w="25400">
            <a:solidFill>
              <a:srgbClr val="B4530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325120" y="365760"/>
            <a:ext cx="3256121" cy="211328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Arial"/>
              </a:rPr>
              <a:t>Transformer encoder — full architecture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5120" y="579120"/>
            <a:ext cx="3103880" cy="1056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Arial"/>
              </a:rPr>
              <a:t>Input pipeline, the repeated stack, both sub-blocks opened up, and the training path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5120" y="6532880"/>
            <a:ext cx="4251881" cy="105664"/>
          </a:xfrm>
          <a:prstGeom prst="rect">
            <a:avLst/>
          </a:prstGeom>
          <a:noFill/>
        </p:spPr>
        <p:txBody>
          <a:bodyPr wrap="none" tIns="0" bIns="0" lIns="0" rIns="0">
            <a:spAutoFit/>
          </a:bodyPr>
          <a:lstStyle/>
          <a:p>
            <a:pPr algn="l"/>
            <a:r>
              <a:rPr sz="800">
                <a:solidFill>
                  <a:srgbClr val="64748B"/>
                </a:solidFill>
                <a:latin typeface="Arial"/>
              </a:rPr>
              <a:t>Amber: active only during training. Arcs are residual identities. B batch, L sequence length, d model width, H heads.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