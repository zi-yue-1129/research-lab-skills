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Transformer encoder — full architecture. Input pipeline, the repeated stack, both sub-blocks opened up, and the training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5120" y="731520"/>
            <a:ext cx="4307840" cy="1137920"/>
          </a:xfrm>
          <a:prstGeom prst="roundRect">
            <a:avLst>
              <a:gd name="adj" fmla="val 3571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83058" bIns="0"/>
          <a:lstStyle/>
          <a:p>
            <a:pPr algn="l" marL="81280">
              <a:lnSpc>
                <a:spcPts val="873"/>
              </a:lnSpc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64748B"/>
                </a:solidFill>
                <a:latin typeface="Arial"/>
              </a:rPr>
              <a:t>1. Input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137920"/>
            <a:ext cx="894080" cy="4876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Token ids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44320" y="1056640"/>
            <a:ext cx="146304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Embedding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vocab 32k, weight-tied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69920" y="1056640"/>
            <a:ext cx="130048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Rotary position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applied to Q and K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95520" y="731520"/>
            <a:ext cx="3616960" cy="975360"/>
          </a:xfrm>
          <a:prstGeom prst="roundRect">
            <a:avLst>
              <a:gd name="adj" fmla="val 4166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83058" bIns="0"/>
          <a:lstStyle/>
          <a:p>
            <a:pPr algn="l" marL="81280">
              <a:lnSpc>
                <a:spcPts val="873"/>
              </a:lnSpc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64748B"/>
                </a:solidFill>
                <a:latin typeface="Arial"/>
              </a:rPr>
              <a:t>2. Encoder stack  (N = 24)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8080" y="1056640"/>
            <a:ext cx="772160" cy="4876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Block 1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2800" y="1056640"/>
            <a:ext cx="772160" cy="4876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Block 2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27520" y="1097280"/>
            <a:ext cx="487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76911" bIns="0"/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64748B"/>
                </a:solidFill>
                <a:latin typeface="Arial"/>
              </a:rPr>
              <a:t>• • 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760" y="1056640"/>
            <a:ext cx="772160" cy="4876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Block N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120" y="2032000"/>
            <a:ext cx="4389120" cy="1137920"/>
          </a:xfrm>
          <a:prstGeom prst="roundRect">
            <a:avLst>
              <a:gd name="adj" fmla="val 3571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83058" bIns="0"/>
          <a:lstStyle/>
          <a:p>
            <a:pPr algn="l" marL="81280">
              <a:lnSpc>
                <a:spcPts val="873"/>
              </a:lnSpc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64748B"/>
                </a:solidFill>
                <a:latin typeface="Arial"/>
              </a:rPr>
              <a:t>3. Head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7680" y="2357120"/>
            <a:ext cx="142240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Mean pool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masked over padding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72640" y="2357120"/>
            <a:ext cx="97536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Task head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Linear d to C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0560" y="2357120"/>
            <a:ext cx="1341120" cy="6502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Cross-entropy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label smoothing 0.1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scalar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6800" y="2032000"/>
            <a:ext cx="6949440" cy="1463040"/>
          </a:xfrm>
          <a:prstGeom prst="roundRect">
            <a:avLst>
              <a:gd name="adj" fmla="val 2777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83058" bIns="0"/>
          <a:lstStyle/>
          <a:p>
            <a:pPr algn="l" marL="81280">
              <a:lnSpc>
                <a:spcPts val="873"/>
              </a:lnSpc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64748B"/>
                </a:solidFill>
                <a:latin typeface="Arial"/>
              </a:rPr>
              <a:t>4. Self-attention sub-block  (pre-norm residual)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9360" y="2357120"/>
            <a:ext cx="6624320" cy="975360"/>
          </a:xfrm>
          <a:prstGeom prst="roundRect">
            <a:avLst>
              <a:gd name="adj" fmla="val 4166"/>
            </a:avLst>
          </a:prstGeom>
          <a:noFill/>
          <a:ln w="19050">
            <a:solidFill>
              <a:srgbClr val="6474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01920" y="2600960"/>
            <a:ext cx="975360" cy="4876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LayerNorm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9840" y="2519680"/>
            <a:ext cx="125984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QKV projection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3 x Linear d to d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H, L, d/H)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62240" y="2519680"/>
            <a:ext cx="162560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Scaled dot-product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causal mask, dropout 0.1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H, L, 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0400" y="2600960"/>
            <a:ext cx="1422400" cy="4876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Output projection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22" name="Oval 21"/>
          <p:cNvSpPr/>
          <p:nvPr/>
        </p:nvSpPr>
        <p:spPr>
          <a:xfrm>
            <a:off x="11135360" y="26416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66751" bIns="0"/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475569"/>
                </a:solidFill>
                <a:latin typeface="Arial"/>
              </a:rPr>
              <a:t>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5120" y="3657600"/>
            <a:ext cx="4958080" cy="1463040"/>
          </a:xfrm>
          <a:prstGeom prst="roundRect">
            <a:avLst>
              <a:gd name="adj" fmla="val 2777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83058" bIns="0"/>
          <a:lstStyle/>
          <a:p>
            <a:pPr algn="l" marL="81280">
              <a:lnSpc>
                <a:spcPts val="873"/>
              </a:lnSpc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64748B"/>
                </a:solidFill>
                <a:latin typeface="Arial"/>
              </a:rPr>
              <a:t>5. Feed-forward sub-block  (pre-norm residual)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7680" y="3982720"/>
            <a:ext cx="4632960" cy="975360"/>
          </a:xfrm>
          <a:prstGeom prst="roundRect">
            <a:avLst>
              <a:gd name="adj" fmla="val 4166"/>
            </a:avLst>
          </a:prstGeom>
          <a:noFill/>
          <a:ln w="19050">
            <a:solidFill>
              <a:srgbClr val="6474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0240" y="4226560"/>
            <a:ext cx="975360" cy="4876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LayerNorm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88160" y="4145280"/>
            <a:ext cx="130048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Linear d to 4d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GELU, dropout 0.1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4d)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51200" y="4226560"/>
            <a:ext cx="1178560" cy="4876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Linear 4d to d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28" name="Oval 27"/>
          <p:cNvSpPr/>
          <p:nvPr/>
        </p:nvSpPr>
        <p:spPr>
          <a:xfrm>
            <a:off x="4592320" y="4267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66751" bIns="0"/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475569"/>
                </a:solidFill>
                <a:latin typeface="Arial"/>
              </a:rPr>
              <a:t>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5760" y="3657600"/>
            <a:ext cx="5689600" cy="1137920"/>
          </a:xfrm>
          <a:prstGeom prst="roundRect">
            <a:avLst>
              <a:gd name="adj" fmla="val 3571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83058" bIns="0"/>
          <a:lstStyle/>
          <a:p>
            <a:pPr algn="l" marL="81280">
              <a:lnSpc>
                <a:spcPts val="873"/>
              </a:lnSpc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64748B"/>
                </a:solidFill>
                <a:latin typeface="Arial"/>
              </a:rPr>
              <a:t>6. Training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8320" y="3982720"/>
            <a:ext cx="113792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Forward pass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bf16 autocast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L, 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8800" y="3982720"/>
            <a:ext cx="934720" cy="6502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Backward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grad clip 1.0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grads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6080" y="3982720"/>
            <a:ext cx="1463040" cy="6502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AdamW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beta 0.9 / 0.95, wd 0.1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params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31680" y="3982720"/>
            <a:ext cx="1341120" cy="6502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Cosine schedule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2k warmup steps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lr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5120" y="5283200"/>
            <a:ext cx="6096000" cy="1137920"/>
          </a:xfrm>
          <a:prstGeom prst="roundRect">
            <a:avLst>
              <a:gd name="adj" fmla="val 3571"/>
            </a:avLst>
          </a:prstGeom>
          <a:noFill/>
          <a:ln w="19050">
            <a:solidFill>
              <a:srgbClr val="E2E8F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83058" bIns="0"/>
          <a:lstStyle/>
          <a:p>
            <a:pPr algn="l" marL="81280">
              <a:lnSpc>
                <a:spcPts val="873"/>
              </a:lnSpc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64748B"/>
                </a:solidFill>
                <a:latin typeface="Arial"/>
              </a:rPr>
              <a:t>7. Inference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7680" y="5608320"/>
            <a:ext cx="130048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KV cache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per layer, per head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H, L, d/H)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50720" y="5608320"/>
            <a:ext cx="134112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Incremental step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one token at a time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1, 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54400" y="5608320"/>
            <a:ext cx="1300480" cy="6502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Sampling</a:t>
            </a:r>
          </a:p>
          <a:p>
            <a:pPr algn="l" marL="92456">
              <a:lnSpc>
                <a:spcPts val="873"/>
              </a:lnSpc>
              <a:spcBef>
                <a:spcPts val="29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top-p 0.9, temp 0.8</a:t>
            </a:r>
          </a:p>
          <a:p>
            <a:pPr algn="l" marL="92456">
              <a:lnSpc>
                <a:spcPts val="873"/>
              </a:lnSpc>
              <a:spcBef>
                <a:spcPts val="48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1)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17440" y="5689600"/>
            <a:ext cx="1341120" cy="4876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0" rIns="0" tIns="115951" bIns="0"/>
          <a:lstStyle/>
          <a:p>
            <a:pPr algn="l" marL="92456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1025" b="1">
                <a:solidFill>
                  <a:srgbClr val="374151"/>
                </a:solidFill>
                <a:latin typeface="Arial"/>
              </a:rPr>
              <a:t>Generated token</a:t>
            </a:r>
          </a:p>
          <a:p>
            <a:pPr algn="l" marL="92456">
              <a:lnSpc>
                <a:spcPts val="873"/>
              </a:lnSpc>
              <a:spcBef>
                <a:spcPts val="376"/>
              </a:spcBef>
              <a:spcAft>
                <a:spcPts val="0"/>
              </a:spcAft>
            </a:pPr>
            <a:r>
              <a:rPr sz="910">
                <a:solidFill>
                  <a:srgbClr val="64748B"/>
                </a:solidFill>
                <a:latin typeface="Arial"/>
              </a:rPr>
              <a:t>(B, 1)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746240" y="43078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843520" y="43078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469120" y="43078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788160" y="59334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291840" y="59334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54880" y="59334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81760" y="138176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07360" y="138176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470400" y="1381760"/>
            <a:ext cx="24384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714240" y="1300480"/>
            <a:ext cx="0" cy="8128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714240" y="1300480"/>
            <a:ext cx="24384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730240" y="130048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863840" y="1544320"/>
            <a:ext cx="0" cy="40640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198880" y="1950720"/>
            <a:ext cx="666496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98880" y="1950720"/>
            <a:ext cx="0" cy="40640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910080" y="26822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48000" y="268224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177280" y="284480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599680" y="284480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387840" y="284480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972800" y="28448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1054080" y="2824480"/>
            <a:ext cx="0" cy="2032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1054080" y="2824480"/>
            <a:ext cx="8128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625600" y="447040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88640" y="4470400"/>
            <a:ext cx="16256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429760" y="4470400"/>
            <a:ext cx="81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511040" y="4450080"/>
            <a:ext cx="0" cy="2032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511040" y="4450080"/>
            <a:ext cx="81280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689600" y="2418080"/>
            <a:ext cx="0" cy="18288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689600" y="2418080"/>
            <a:ext cx="562864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318240" y="2418080"/>
            <a:ext cx="0" cy="22352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37920" y="4043680"/>
            <a:ext cx="0" cy="18288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37920" y="4043680"/>
            <a:ext cx="363728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775200" y="4043680"/>
            <a:ext cx="0" cy="22352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881120" y="3007360"/>
            <a:ext cx="0" cy="264160"/>
          </a:xfrm>
          <a:prstGeom prst="line">
            <a:avLst/>
          </a:prstGeom>
          <a:ln w="2540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881120" y="3271520"/>
            <a:ext cx="4693920" cy="0"/>
          </a:xfrm>
          <a:prstGeom prst="line">
            <a:avLst/>
          </a:prstGeom>
          <a:ln w="2540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575040" y="3169920"/>
            <a:ext cx="0" cy="101600"/>
          </a:xfrm>
          <a:prstGeom prst="line">
            <a:avLst/>
          </a:prstGeom>
          <a:ln w="25400">
            <a:solidFill>
              <a:srgbClr val="B4530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25120" y="365760"/>
            <a:ext cx="3256121" cy="2113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Arial"/>
              </a:rPr>
              <a:t>Transformer encoder — full architecture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5120" y="579120"/>
            <a:ext cx="3103880" cy="1056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Arial"/>
              </a:rPr>
              <a:t>Input pipeline, the repeated stack, both sub-blocks opened up, and the training path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5120" y="6532880"/>
            <a:ext cx="4251881" cy="1056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Arial"/>
              </a:rPr>
              <a:t>Amber: active only during training. Arcs are residual identities. B batch, L sequence length, d model width, H heads.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