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Transformer encoder stack. Token stream to pooled representation, with one block opened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Transformer encoder stack. Token stream to pooled representation, with one block opened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80" y="1300480"/>
            <a:ext cx="9591040" cy="2763520"/>
          </a:xfrm>
          <a:prstGeom prst="roundRect">
            <a:avLst>
              <a:gd name="adj" fmla="val 2941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82880" bIns="0"/>
          <a:lstStyle/>
          <a:p>
            <a:pPr algn="l" marL="162560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48B"/>
                </a:solidFill>
                <a:latin typeface="Arial"/>
              </a:rPr>
              <a:t>1. Forward path  (encoder stack, N=24)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50720"/>
            <a:ext cx="162560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Token ids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0960" y="1869440"/>
            <a:ext cx="1950720" cy="97536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Embedding</a:t>
            </a:r>
          </a:p>
          <a:p>
            <a:pPr algn="l" marL="162560">
              <a:lnSpc>
                <a:spcPts val="1536"/>
              </a:lnSpc>
              <a:spcBef>
                <a:spcPts val="19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vocab 32k, tied</a:t>
            </a:r>
          </a:p>
          <a:p>
            <a:pPr algn="l" marL="162560">
              <a:lnSpc>
                <a:spcPts val="1536"/>
              </a:lnSpc>
              <a:spcBef>
                <a:spcPts val="544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95520" y="1950720"/>
            <a:ext cx="2275840" cy="73152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Rotary position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50720"/>
            <a:ext cx="1381760" cy="73152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Block 1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940800" y="2032000"/>
            <a:ext cx="894080" cy="65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320040" bIns="0"/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4748B"/>
                </a:solidFill>
                <a:latin typeface="Arial"/>
              </a:rPr>
              <a:t>• • 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7120" y="3088640"/>
            <a:ext cx="1463040" cy="73152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Block N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4000" y="3088640"/>
            <a:ext cx="1706880" cy="73152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Mean pool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4720" y="3088640"/>
            <a:ext cx="219456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Cross-entropy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scalar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7120" y="2316480"/>
            <a:ext cx="812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38400" y="2316480"/>
            <a:ext cx="0" cy="406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38400" y="2357120"/>
            <a:ext cx="1625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51680" y="2357120"/>
            <a:ext cx="812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632960" y="2316480"/>
            <a:ext cx="0" cy="406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32960" y="2316480"/>
            <a:ext cx="1625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71360" y="2316480"/>
            <a:ext cx="24384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20160" y="3454400"/>
            <a:ext cx="24384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70880" y="3454400"/>
            <a:ext cx="24384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7680" y="609600"/>
            <a:ext cx="5740082" cy="4226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Transformer encoder stack  (1 of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" y="1036320"/>
            <a:ext cx="4947761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Arial"/>
              </a:rPr>
              <a:t>Token stream to pooled representation, with one block opened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6329680"/>
            <a:ext cx="8168481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Arial"/>
              </a:rPr>
              <a:t>Amber: the training-only gradient path. Arcs are residual identities. L sequence length, d model width, H heads.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80" y="1300480"/>
            <a:ext cx="6583680" cy="2275840"/>
          </a:xfrm>
          <a:prstGeom prst="roundRect">
            <a:avLst>
              <a:gd name="adj" fmla="val 3571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82880" bIns="0"/>
          <a:lstStyle/>
          <a:p>
            <a:pPr algn="l" marL="162560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48B"/>
                </a:solidFill>
                <a:latin typeface="Arial"/>
              </a:rPr>
              <a:t>2. Self-attention  (pre-norm residual)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69440"/>
            <a:ext cx="6096000" cy="1463040"/>
          </a:xfrm>
          <a:prstGeom prst="roundRect">
            <a:avLst>
              <a:gd name="adj" fmla="val 5555"/>
            </a:avLst>
          </a:prstGeom>
          <a:noFill/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5360" y="2194560"/>
            <a:ext cx="1788160" cy="73152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LayerNorm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7360" y="2113280"/>
            <a:ext cx="2682240" cy="97536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Scaled dot-product</a:t>
            </a:r>
          </a:p>
          <a:p>
            <a:pPr algn="l" marL="162560">
              <a:lnSpc>
                <a:spcPts val="1536"/>
              </a:lnSpc>
              <a:spcBef>
                <a:spcPts val="19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H heads, causal mask</a:t>
            </a:r>
          </a:p>
          <a:p>
            <a:pPr algn="l" marL="162560">
              <a:lnSpc>
                <a:spcPts val="1536"/>
              </a:lnSpc>
              <a:spcBef>
                <a:spcPts val="544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H, L, L)</a:t>
            </a:r>
          </a:p>
        </p:txBody>
      </p:sp>
      <p:sp>
        <p:nvSpPr>
          <p:cNvPr id="7" name="Oval 6"/>
          <p:cNvSpPr/>
          <p:nvPr/>
        </p:nvSpPr>
        <p:spPr>
          <a:xfrm>
            <a:off x="5933440" y="2275840"/>
            <a:ext cx="650240" cy="650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99720" bIns="0"/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75569"/>
                </a:solidFill>
                <a:latin typeface="Arial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820160"/>
            <a:ext cx="6177280" cy="2275840"/>
          </a:xfrm>
          <a:prstGeom prst="roundRect">
            <a:avLst>
              <a:gd name="adj" fmla="val 3571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82880" bIns="0"/>
          <a:lstStyle/>
          <a:p>
            <a:pPr algn="l" marL="162560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48B"/>
                </a:solidFill>
                <a:latin typeface="Arial"/>
              </a:rPr>
              <a:t>3. Feed-forward  (pre-norm residual)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689600" cy="1463040"/>
          </a:xfrm>
          <a:prstGeom prst="roundRect">
            <a:avLst>
              <a:gd name="adj" fmla="val 5555"/>
            </a:avLst>
          </a:prstGeom>
          <a:noFill/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5360" y="4714240"/>
            <a:ext cx="1788160" cy="73152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LayerNorm</a:t>
            </a:r>
          </a:p>
          <a:p>
            <a:pPr algn="l" marL="162560">
              <a:lnSpc>
                <a:spcPts val="1536"/>
              </a:lnSpc>
              <a:spcBef>
                <a:spcPts val="35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7360" y="4632960"/>
            <a:ext cx="2275840" cy="97536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8280" bIns="0"/>
          <a:lstStyle/>
          <a:p>
            <a:pPr algn="l" marL="16256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4151"/>
                </a:solidFill>
                <a:latin typeface="Arial"/>
              </a:rPr>
              <a:t>Linear d to 4d</a:t>
            </a:r>
          </a:p>
          <a:p>
            <a:pPr algn="l" marL="162560">
              <a:lnSpc>
                <a:spcPts val="1536"/>
              </a:lnSpc>
              <a:spcBef>
                <a:spcPts val="192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GELU, dropout 0.1</a:t>
            </a:r>
          </a:p>
          <a:p>
            <a:pPr algn="l" marL="162560">
              <a:lnSpc>
                <a:spcPts val="1536"/>
              </a:lnSpc>
              <a:spcBef>
                <a:spcPts val="544"/>
              </a:spcBef>
              <a:spcAft>
                <a:spcPts val="0"/>
              </a:spcAft>
            </a:pPr>
            <a:r>
              <a:rPr sz="1600">
                <a:solidFill>
                  <a:srgbClr val="64748B"/>
                </a:solidFill>
                <a:latin typeface="Arial"/>
              </a:rPr>
              <a:t>(B, L, 4d)</a:t>
            </a:r>
          </a:p>
        </p:txBody>
      </p:sp>
      <p:sp>
        <p:nvSpPr>
          <p:cNvPr id="12" name="Oval 11"/>
          <p:cNvSpPr/>
          <p:nvPr/>
        </p:nvSpPr>
        <p:spPr>
          <a:xfrm>
            <a:off x="5527040" y="4795520"/>
            <a:ext cx="650240" cy="650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99720" bIns="0"/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75569"/>
                </a:solidFill>
                <a:latin typeface="Arial"/>
              </a:rPr>
              <a:t>+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63520" y="2560320"/>
            <a:ext cx="812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44800" y="2560320"/>
            <a:ext cx="0" cy="406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44800" y="2600960"/>
            <a:ext cx="1625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89600" y="2600960"/>
            <a:ext cx="24384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63520" y="5080000"/>
            <a:ext cx="812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44800" y="5080000"/>
            <a:ext cx="0" cy="406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44800" y="5120640"/>
            <a:ext cx="1625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83200" y="5120640"/>
            <a:ext cx="24384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869440" y="1991360"/>
            <a:ext cx="0" cy="2032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69440" y="1991360"/>
            <a:ext cx="43891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58560" y="1991360"/>
            <a:ext cx="0" cy="2844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69440" y="4511040"/>
            <a:ext cx="0" cy="2032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69440" y="4511040"/>
            <a:ext cx="39827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52160" y="4511040"/>
            <a:ext cx="0" cy="2844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58560" y="2926080"/>
            <a:ext cx="0" cy="89408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869440" y="3820160"/>
            <a:ext cx="43891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69440" y="3820160"/>
            <a:ext cx="0" cy="8940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7680" y="609600"/>
            <a:ext cx="5740082" cy="4226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Transformer encoder stack  (2 of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80" y="1036320"/>
            <a:ext cx="4947761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Arial"/>
              </a:rPr>
              <a:t>Token stream to pooled representation, with one block opened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80" y="6329680"/>
            <a:ext cx="8168481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Arial"/>
              </a:rPr>
              <a:t>Amber: the training-only gradient path. Arcs are residual identities. L sequence length, d model width, H heads.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