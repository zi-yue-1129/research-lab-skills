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Transformer encoder stack. Token stream to pooled representation, with one block opened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Transformer encoder stack. Token stream to pooled representation, with one block opened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87680" y="1950720"/>
            <a:ext cx="11135360" cy="3576320"/>
          </a:xfrm>
          <a:prstGeom prst="roundRect">
            <a:avLst>
              <a:gd name="adj" fmla="val 2272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43256" bIns="0"/>
          <a:lstStyle/>
          <a:p>
            <a:pPr algn="l" marL="162560">
              <a:lnSpc>
                <a:spcPts val="2035"/>
              </a:lnSpc>
              <a:spcBef>
                <a:spcPts val="0"/>
              </a:spcBef>
              <a:spcAft>
                <a:spcPts val="0"/>
              </a:spcAft>
            </a:pPr>
            <a:r>
              <a:rPr sz="2120" b="1">
                <a:solidFill>
                  <a:srgbClr val="64748B"/>
                </a:solidFill>
                <a:latin typeface="Arial"/>
              </a:rPr>
              <a:t>1. Forward path  (encoder stack, N=24)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763520"/>
            <a:ext cx="2113280" cy="9753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Token ids</a:t>
            </a:r>
          </a:p>
          <a:p>
            <a:pPr algn="l" marL="215392">
              <a:lnSpc>
                <a:spcPts val="2035"/>
              </a:lnSpc>
              <a:spcBef>
                <a:spcPts val="42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(B, 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51200" y="2600960"/>
            <a:ext cx="2600960" cy="130048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Embedding</a:t>
            </a:r>
          </a:p>
          <a:p>
            <a:pPr algn="l" marL="215392">
              <a:lnSpc>
                <a:spcPts val="2035"/>
              </a:lnSpc>
              <a:spcBef>
                <a:spcPts val="26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vocab 32k, tied</a:t>
            </a:r>
          </a:p>
          <a:p>
            <a:pPr algn="l" marL="215392">
              <a:lnSpc>
                <a:spcPts val="2035"/>
              </a:lnSpc>
              <a:spcBef>
                <a:spcPts val="684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7280" y="2763520"/>
            <a:ext cx="300736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Rotary position</a:t>
            </a:r>
          </a:p>
          <a:p>
            <a:pPr algn="l" marL="215392">
              <a:lnSpc>
                <a:spcPts val="2035"/>
              </a:lnSpc>
              <a:spcBef>
                <a:spcPts val="42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0" y="2763520"/>
            <a:ext cx="178816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Block 1</a:t>
            </a:r>
          </a:p>
          <a:p>
            <a:pPr algn="l" marL="215392">
              <a:lnSpc>
                <a:spcPts val="2035"/>
              </a:lnSpc>
              <a:spcBef>
                <a:spcPts val="42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4307840"/>
            <a:ext cx="1137920" cy="81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85826" bIns="0"/>
          <a:lstStyle/>
          <a:p>
            <a:pPr algn="ctr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64748B"/>
                </a:solidFill>
                <a:latin typeface="Arial"/>
              </a:rPr>
              <a:t>• • 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4226560"/>
            <a:ext cx="186944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Block N</a:t>
            </a:r>
          </a:p>
          <a:p>
            <a:pPr algn="l" marL="215392">
              <a:lnSpc>
                <a:spcPts val="2035"/>
              </a:lnSpc>
              <a:spcBef>
                <a:spcPts val="42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4226560"/>
            <a:ext cx="227584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Mean pool</a:t>
            </a:r>
          </a:p>
          <a:p>
            <a:pPr algn="l" marL="215392">
              <a:lnSpc>
                <a:spcPts val="2035"/>
              </a:lnSpc>
              <a:spcBef>
                <a:spcPts val="42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(B, 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1600" y="4226560"/>
            <a:ext cx="2844800" cy="9753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62890" bIns="0"/>
          <a:lstStyle/>
          <a:p>
            <a:pPr algn="l" marL="215392">
              <a:lnSpc>
                <a:spcPts val="2294"/>
              </a:lnSpc>
              <a:spcBef>
                <a:spcPts val="0"/>
              </a:spcBef>
              <a:spcAft>
                <a:spcPts val="0"/>
              </a:spcAft>
            </a:pPr>
            <a:r>
              <a:rPr sz="2390" b="1">
                <a:solidFill>
                  <a:srgbClr val="374151"/>
                </a:solidFill>
                <a:latin typeface="Arial"/>
              </a:rPr>
              <a:t>Cross-entropy</a:t>
            </a:r>
          </a:p>
          <a:p>
            <a:pPr algn="l" marL="215392">
              <a:lnSpc>
                <a:spcPts val="2035"/>
              </a:lnSpc>
              <a:spcBef>
                <a:spcPts val="425"/>
              </a:spcBef>
              <a:spcAft>
                <a:spcPts val="0"/>
              </a:spcAft>
            </a:pPr>
            <a:r>
              <a:rPr sz="2120">
                <a:solidFill>
                  <a:srgbClr val="64748B"/>
                </a:solidFill>
                <a:latin typeface="Arial"/>
              </a:rPr>
              <a:t>scalar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251200"/>
            <a:ext cx="32512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52160" y="3251200"/>
            <a:ext cx="32512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84640" y="3251200"/>
            <a:ext cx="32512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95520" y="4714240"/>
            <a:ext cx="32512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96480" y="4714240"/>
            <a:ext cx="32512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7680" y="609600"/>
            <a:ext cx="5740082" cy="42265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Arial"/>
              </a:rPr>
              <a:t>Transformer encoder stack  (1 of 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680" y="1036320"/>
            <a:ext cx="494776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64748B"/>
                </a:solidFill>
                <a:latin typeface="Arial"/>
              </a:rPr>
              <a:t>Token stream to pooled representation, with one block opened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" y="6329680"/>
            <a:ext cx="816848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64748B"/>
                </a:solidFill>
                <a:latin typeface="Arial"/>
              </a:rPr>
              <a:t>Amber: the training-only gradient path. Arcs are residual identities. L sequence length, d model width, H heads.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63520" y="1300480"/>
            <a:ext cx="6583680" cy="2275840"/>
          </a:xfrm>
          <a:prstGeom prst="roundRect">
            <a:avLst>
              <a:gd name="adj" fmla="val 3571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82880" bIns="0"/>
          <a:lstStyle/>
          <a:p>
            <a:pPr algn="l" marL="162560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Arial"/>
              </a:rPr>
              <a:t>2. Self-attention  (pre-norm residual)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07360" y="1869440"/>
            <a:ext cx="6096000" cy="1463040"/>
          </a:xfrm>
          <a:prstGeom prst="roundRect">
            <a:avLst>
              <a:gd name="adj" fmla="val 5555"/>
            </a:avLst>
          </a:prstGeom>
          <a:noFill/>
          <a:ln w="19050">
            <a:solidFill>
              <a:srgbClr val="6474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51200" y="2194560"/>
            <a:ext cx="178816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LayerNorm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3200" y="2113280"/>
            <a:ext cx="268224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Scaled dot-product</a:t>
            </a:r>
          </a:p>
          <a:p>
            <a:pPr algn="l" marL="162560">
              <a:lnSpc>
                <a:spcPts val="1536"/>
              </a:lnSpc>
              <a:spcBef>
                <a:spcPts val="19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H heads, causal mask</a:t>
            </a:r>
          </a:p>
          <a:p>
            <a:pPr algn="l" marL="162560">
              <a:lnSpc>
                <a:spcPts val="1536"/>
              </a:lnSpc>
              <a:spcBef>
                <a:spcPts val="544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 H, L, L)</a:t>
            </a:r>
          </a:p>
        </p:txBody>
      </p:sp>
      <p:sp>
        <p:nvSpPr>
          <p:cNvPr id="7" name="Oval 6"/>
          <p:cNvSpPr/>
          <p:nvPr/>
        </p:nvSpPr>
        <p:spPr>
          <a:xfrm>
            <a:off x="8209280" y="2275840"/>
            <a:ext cx="650240" cy="650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99720" bIns="0"/>
          <a:lstStyle/>
          <a:p>
            <a:pPr algn="ctr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75569"/>
                </a:solidFill>
                <a:latin typeface="Arial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3520" y="3820160"/>
            <a:ext cx="6177280" cy="2275840"/>
          </a:xfrm>
          <a:prstGeom prst="roundRect">
            <a:avLst>
              <a:gd name="adj" fmla="val 3571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82880" bIns="0"/>
          <a:lstStyle/>
          <a:p>
            <a:pPr algn="l" marL="162560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Arial"/>
              </a:rPr>
              <a:t>3. Feed-forward  (pre-norm residual)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07360" y="4389120"/>
            <a:ext cx="5689600" cy="1463040"/>
          </a:xfrm>
          <a:prstGeom prst="roundRect">
            <a:avLst>
              <a:gd name="adj" fmla="val 5555"/>
            </a:avLst>
          </a:prstGeom>
          <a:noFill/>
          <a:ln w="19050">
            <a:solidFill>
              <a:srgbClr val="6474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51200" y="4714240"/>
            <a:ext cx="178816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LayerNorm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3200" y="4632960"/>
            <a:ext cx="227584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Linear d to 4d</a:t>
            </a:r>
          </a:p>
          <a:p>
            <a:pPr algn="l" marL="162560">
              <a:lnSpc>
                <a:spcPts val="1536"/>
              </a:lnSpc>
              <a:spcBef>
                <a:spcPts val="19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GELU, dropout 0.1</a:t>
            </a:r>
          </a:p>
          <a:p>
            <a:pPr algn="l" marL="162560">
              <a:lnSpc>
                <a:spcPts val="1536"/>
              </a:lnSpc>
              <a:spcBef>
                <a:spcPts val="544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 L, 4d)</a:t>
            </a:r>
          </a:p>
        </p:txBody>
      </p:sp>
      <p:sp>
        <p:nvSpPr>
          <p:cNvPr id="12" name="Oval 11"/>
          <p:cNvSpPr/>
          <p:nvPr/>
        </p:nvSpPr>
        <p:spPr>
          <a:xfrm>
            <a:off x="7802880" y="4795520"/>
            <a:ext cx="650240" cy="650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99720" bIns="0"/>
          <a:lstStyle/>
          <a:p>
            <a:pPr algn="ctr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75569"/>
                </a:solidFill>
                <a:latin typeface="Arial"/>
              </a:rPr>
              <a:t>+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39360" y="256032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2560320"/>
            <a:ext cx="0" cy="4064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0096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5440" y="260096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39360" y="50800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20640" y="5080000"/>
            <a:ext cx="0" cy="4064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0" y="51206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59040" y="512064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145280" y="1910080"/>
            <a:ext cx="0" cy="2844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45280" y="1910080"/>
            <a:ext cx="43891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34400" y="1910080"/>
            <a:ext cx="0" cy="3657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145280" y="4429760"/>
            <a:ext cx="0" cy="2844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45280" y="4429760"/>
            <a:ext cx="39827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128000" y="4429760"/>
            <a:ext cx="0" cy="3657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34400" y="2926080"/>
            <a:ext cx="0" cy="8940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4145280" y="3820160"/>
            <a:ext cx="43891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45280" y="3820160"/>
            <a:ext cx="0" cy="89408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7680" y="609600"/>
            <a:ext cx="5740082" cy="42265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Arial"/>
              </a:rPr>
              <a:t>Transformer encoder stack  (2 of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80" y="1036320"/>
            <a:ext cx="494776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64748B"/>
                </a:solidFill>
                <a:latin typeface="Arial"/>
              </a:rPr>
              <a:t>Token stream to pooled representation, with one block opened 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80" y="6329680"/>
            <a:ext cx="816848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64748B"/>
                </a:solidFill>
                <a:latin typeface="Arial"/>
              </a:rPr>
              <a:t>Amber: the training-only gradient path. Arcs are residual identities. L sequence length, d model width, H heads.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