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Transformer encoder stack. Token stream to pooled representation, with one block opened 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87680" y="1300480"/>
            <a:ext cx="10891520" cy="1544320"/>
          </a:xfrm>
          <a:prstGeom prst="roundRect">
            <a:avLst>
              <a:gd name="adj" fmla="val 5263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82880" bIns="0"/>
          <a:lstStyle/>
          <a:p>
            <a:pPr algn="l" marL="162560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Arial"/>
              </a:rPr>
              <a:t>1. Forward path  (encoder stack, N=24)</a:t>
            </a:r>
          </a:p>
          <a:p>
            <a:pPr algn="ctr">
              <a:lnSpc>
                <a:spcPts val="1728"/>
              </a:lnSpc>
              <a:spcBef>
                <a:spcPts val="4144"/>
              </a:spcBef>
              <a:spcAft>
                <a:spcPts val="0"/>
              </a:spcAft>
            </a:pPr>
            <a:r>
              <a:rPr sz="1800" b="1">
                <a:solidFill>
                  <a:srgbClr val="64748B"/>
                </a:solidFill>
                <a:latin typeface="Arial"/>
              </a:rPr>
              <a:t>• • 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69440"/>
            <a:ext cx="1869440" cy="7315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Embedding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(B,L) to (B,L,d)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44800" y="1869440"/>
            <a:ext cx="1381760" cy="73152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Block 1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(B,L,d)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83200" y="1869440"/>
            <a:ext cx="1463040" cy="73152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Block N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(B,L,d)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90080" y="1869440"/>
            <a:ext cx="1706880" cy="73152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Mean pool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 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40800" y="1869440"/>
            <a:ext cx="2194560" cy="7315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Cross-entropy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scalar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3088640"/>
            <a:ext cx="10810240" cy="2600960"/>
          </a:xfrm>
          <a:prstGeom prst="roundRect">
            <a:avLst>
              <a:gd name="adj" fmla="val 3125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82880" bIns="0"/>
          <a:lstStyle/>
          <a:p>
            <a:pPr algn="l" marL="162560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Arial"/>
              </a:rPr>
              <a:t>2. Inside one block  (pre-norm residual)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039360" cy="1788160"/>
          </a:xfrm>
          <a:prstGeom prst="roundRect">
            <a:avLst>
              <a:gd name="adj" fmla="val 4545"/>
            </a:avLst>
          </a:prstGeom>
          <a:noFill/>
          <a:ln w="19050">
            <a:solidFill>
              <a:srgbClr val="6474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82880" bIns="0"/>
          <a:lstStyle/>
          <a:p>
            <a:pPr algn="l" marL="162560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Arial"/>
              </a:rPr>
              <a:t>Self-attention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5360" y="4307840"/>
            <a:ext cx="1788160" cy="73152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LayerNorm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(B,L,d)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07360" y="4226560"/>
            <a:ext cx="1625600" cy="97536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Attention</a:t>
            </a:r>
          </a:p>
          <a:p>
            <a:pPr algn="l" marL="162560">
              <a:lnSpc>
                <a:spcPts val="1536"/>
              </a:lnSpc>
              <a:spcBef>
                <a:spcPts val="19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H heads</a:t>
            </a:r>
          </a:p>
          <a:p>
            <a:pPr algn="l" marL="162560">
              <a:lnSpc>
                <a:spcPts val="1536"/>
              </a:lnSpc>
              <a:spcBef>
                <a:spcPts val="544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(B,H,L,L)</a:t>
            </a:r>
          </a:p>
        </p:txBody>
      </p:sp>
      <p:sp>
        <p:nvSpPr>
          <p:cNvPr id="13" name="Oval 12"/>
          <p:cNvSpPr/>
          <p:nvPr/>
        </p:nvSpPr>
        <p:spPr>
          <a:xfrm>
            <a:off x="4876800" y="4389120"/>
            <a:ext cx="650240" cy="650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99720" bIns="0"/>
          <a:lstStyle/>
          <a:p>
            <a:pPr algn="ctr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75569"/>
                </a:solidFill>
                <a:latin typeface="Arial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4720" y="3738880"/>
            <a:ext cx="5039360" cy="1544320"/>
          </a:xfrm>
          <a:prstGeom prst="roundRect">
            <a:avLst>
              <a:gd name="adj" fmla="val 5263"/>
            </a:avLst>
          </a:prstGeom>
          <a:noFill/>
          <a:ln w="19050">
            <a:solidFill>
              <a:srgbClr val="6474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82880" bIns="0"/>
          <a:lstStyle/>
          <a:p>
            <a:pPr algn="l" marL="162560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Arial"/>
              </a:rPr>
              <a:t>Feed-forward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8560" y="4307840"/>
            <a:ext cx="1788160" cy="73152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LayerNorm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(B,L,d)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0560" y="4307840"/>
            <a:ext cx="1625600" cy="73152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08280" bIns="0"/>
          <a:lstStyle/>
          <a:p>
            <a:pPr algn="l" marL="162560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74151"/>
                </a:solidFill>
                <a:latin typeface="Arial"/>
              </a:rPr>
              <a:t>Linear 4d</a:t>
            </a:r>
          </a:p>
          <a:p>
            <a:pPr algn="l" marL="162560">
              <a:lnSpc>
                <a:spcPts val="1536"/>
              </a:lnSpc>
              <a:spcBef>
                <a:spcPts val="352"/>
              </a:spcBef>
              <a:spcAft>
                <a:spcPts val="0"/>
              </a:spcAft>
            </a:pPr>
            <a:r>
              <a:rPr sz="1600">
                <a:solidFill>
                  <a:srgbClr val="64748B"/>
                </a:solidFill>
                <a:latin typeface="Arial"/>
              </a:rPr>
              <a:t>(B,L,4d)</a:t>
            </a:r>
          </a:p>
        </p:txBody>
      </p:sp>
      <p:sp>
        <p:nvSpPr>
          <p:cNvPr id="17" name="Oval 16"/>
          <p:cNvSpPr/>
          <p:nvPr/>
        </p:nvSpPr>
        <p:spPr>
          <a:xfrm>
            <a:off x="10160000" y="4307840"/>
            <a:ext cx="650240" cy="650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299720" bIns="0"/>
          <a:lstStyle/>
          <a:p>
            <a:pPr algn="ctr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75569"/>
                </a:solidFill>
                <a:latin typeface="Arial"/>
              </a:rPr>
              <a:t>+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00960" y="223520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746240" y="223520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96960" y="223520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763520" y="46736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844800" y="4673600"/>
            <a:ext cx="0" cy="4064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44800" y="47142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632960" y="471424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46720" y="467360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16160" y="46736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997440" y="4632960"/>
            <a:ext cx="0" cy="4064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997440" y="463296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869440" y="3901440"/>
            <a:ext cx="0" cy="40640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69440" y="3901440"/>
            <a:ext cx="33324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201920" y="3901440"/>
            <a:ext cx="0" cy="48768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152640" y="3901440"/>
            <a:ext cx="0" cy="40640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52640" y="3901440"/>
            <a:ext cx="33324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485120" y="3901440"/>
            <a:ext cx="0" cy="40640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27040" y="4714240"/>
            <a:ext cx="3251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852160" y="4673600"/>
            <a:ext cx="0" cy="4064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852160" y="4673600"/>
            <a:ext cx="40640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38080" y="2600960"/>
            <a:ext cx="0" cy="3007360"/>
          </a:xfrm>
          <a:prstGeom prst="line">
            <a:avLst/>
          </a:prstGeom>
          <a:ln w="2540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820160" y="5608320"/>
            <a:ext cx="6217920" cy="0"/>
          </a:xfrm>
          <a:prstGeom prst="line">
            <a:avLst/>
          </a:prstGeom>
          <a:ln w="2540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820160" y="5201920"/>
            <a:ext cx="0" cy="406400"/>
          </a:xfrm>
          <a:prstGeom prst="line">
            <a:avLst/>
          </a:prstGeom>
          <a:ln w="25400">
            <a:solidFill>
              <a:srgbClr val="B4530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87680" y="609600"/>
            <a:ext cx="4470082" cy="42265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Arial"/>
              </a:rPr>
              <a:t>Transformer encoder stack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7680" y="1036320"/>
            <a:ext cx="4947761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64748B"/>
                </a:solidFill>
                <a:latin typeface="Arial"/>
              </a:rPr>
              <a:t>Token stream to pooled representation, with one block opened 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680" y="6329680"/>
            <a:ext cx="8168481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>
                <a:solidFill>
                  <a:srgbClr val="64748B"/>
                </a:solidFill>
                <a:latin typeface="Arial"/>
              </a:rPr>
              <a:t>Amber: the training-only gradient path. Arcs are residual identities. L sequence length, d model width, H heads.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